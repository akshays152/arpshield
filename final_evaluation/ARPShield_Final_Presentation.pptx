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4400">
                <a:solidFill>
                  <a:srgbClr val="00B0F0"/>
                </a:solidFill>
              </a:rPr>
              <a:t>ARPShield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600">
                <a:solidFill>
                  <a:srgbClr val="FFFFFF"/>
                </a:solidFill>
              </a:rPr>
              <a:t>REAL-TIME ARP SPOOFING DETECTION AND DDOS PREVENTION SYSTEM</a:t>
            </a:r>
          </a:p>
          <a:p/>
          <a:p>
            <a:r>
              <a:rPr sz="1600">
                <a:solidFill>
                  <a:srgbClr val="FFFFFF"/>
                </a:solidFill>
              </a:rPr>
              <a:t>Official Topic: ARP Spoofing Attack Detection to Prevent DDoS Attack</a:t>
            </a:r>
          </a:p>
          <a:p>
            <a:r>
              <a:rPr sz="1600">
                <a:solidFill>
                  <a:srgbClr val="FFFFFF"/>
                </a:solidFill>
              </a:rPr>
              <a:t>Group No. 52</a:t>
            </a:r>
          </a:p>
          <a:p>
            <a:r>
              <a:rPr sz="1600">
                <a:solidFill>
                  <a:srgbClr val="FFFFFF"/>
                </a:solidFill>
              </a:rPr>
              <a:t>Team: Chintanika M, Rishima Sharma, Anju Kumari, Akshay Singh, Oveiya K</a:t>
            </a:r>
          </a:p>
          <a:p>
            <a:r>
              <a:rPr sz="1600">
                <a:solidFill>
                  <a:srgbClr val="FFFFFF"/>
                </a:solidFill>
              </a:rPr>
              <a:t>Supervisor: Dr. Sreevani Maddukuri</a:t>
            </a:r>
          </a:p>
          <a:p>
            <a:r>
              <a:rPr sz="1600">
                <a:solidFill>
                  <a:srgbClr val="FFFFFF"/>
                </a:solidFill>
              </a:rPr>
              <a:t>VIT Bhopal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B0F0"/>
                </a:solidFill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FFFFFF"/>
                </a:solidFill>
              </a:rPr>
              <a:t>• ARP protocol lacks built-in authentication mechanisms.</a:t>
            </a:r>
          </a:p>
          <a:p>
            <a:r>
              <a:rPr sz="1800">
                <a:solidFill>
                  <a:srgbClr val="FFFFFF"/>
                </a:solidFill>
              </a:rPr>
              <a:t>• Attackers easily forge ARP messages to introduce incorrect IP-MAC mappings.</a:t>
            </a:r>
          </a:p>
          <a:p>
            <a:r>
              <a:rPr sz="1800">
                <a:solidFill>
                  <a:srgbClr val="FFFFFF"/>
                </a:solidFill>
              </a:rPr>
              <a:t>• Gateway spoofing can intercept, modify, or drop communication (Man-in-the-Middle).</a:t>
            </a:r>
          </a:p>
          <a:p>
            <a:r>
              <a:rPr sz="1800">
                <a:solidFill>
                  <a:srgbClr val="FFFFFF"/>
                </a:solidFill>
              </a:rPr>
              <a:t>• High-rate ARP spoofing (flooding) contributes to severe network disruption and DoS conditions.</a:t>
            </a:r>
          </a:p>
          <a:p>
            <a:r>
              <a:rPr sz="1800">
                <a:solidFill>
                  <a:srgbClr val="FFFFFF"/>
                </a:solidFill>
              </a:rPr>
              <a:t>• Networks need real-time monitoring to detect suspicious behavior and identify the offending source.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B0F0"/>
                </a:solidFill>
              </a:rP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FFFFFF"/>
                </a:solidFill>
              </a:rPr>
              <a:t>• Real-time ARP monitoring to capture raw network traffic continuously.</a:t>
            </a:r>
          </a:p>
          <a:p>
            <a:r>
              <a:rPr sz="1800">
                <a:solidFill>
                  <a:srgbClr val="FFFFFF"/>
                </a:solidFill>
              </a:rPr>
              <a:t>• Dynamic IP-MAC mapping to establish a trusted baseline.</a:t>
            </a:r>
          </a:p>
          <a:p>
            <a:r>
              <a:rPr sz="1800">
                <a:solidFill>
                  <a:srgbClr val="FFFFFF"/>
                </a:solidFill>
              </a:rPr>
              <a:t>• Spoofing detection using an advanced rule-based heuristic engine.</a:t>
            </a:r>
          </a:p>
          <a:p>
            <a:r>
              <a:rPr sz="1800">
                <a:solidFill>
                  <a:srgbClr val="FFFFFF"/>
                </a:solidFill>
              </a:rPr>
              <a:t>• Attacker identification to pinpoint the exact MAC/IP of the suspected source.</a:t>
            </a:r>
          </a:p>
          <a:p>
            <a:r>
              <a:rPr sz="1800">
                <a:solidFill>
                  <a:srgbClr val="FFFFFF"/>
                </a:solidFill>
              </a:rPr>
              <a:t>• Alert generation with categorized severity levels (Low, Medium, High, Critical).</a:t>
            </a:r>
          </a:p>
          <a:p>
            <a:r>
              <a:rPr sz="1800">
                <a:solidFill>
                  <a:srgbClr val="FFFFFF"/>
                </a:solidFill>
              </a:rPr>
              <a:t>• Network impact analysis to quantify DDoS/DoS conditions caused by ARP storms.</a:t>
            </a:r>
          </a:p>
          <a:p>
            <a:r>
              <a:rPr sz="1800">
                <a:solidFill>
                  <a:srgbClr val="FFFFFF"/>
                </a:solidFill>
              </a:rPr>
              <a:t>• Defensive mitigation (e.g., Device Isolation) requiring administrative approval.</a:t>
            </a:r>
          </a:p>
          <a:p>
            <a:r>
              <a:rPr sz="1800">
                <a:solidFill>
                  <a:srgbClr val="FFFFFF"/>
                </a:solidFill>
              </a:rPr>
              <a:t>• Security Dashboard for centralized network health reporting.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B0F0"/>
                </a:solidFill>
              </a:rPr>
              <a:t>Existing System vs ARPShield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FFFFFF"/>
                </a:solidFill>
              </a:rPr>
              <a:t>Existing Approaches:</a:t>
            </a:r>
          </a:p>
          <a:p>
            <a:r>
              <a:rPr sz="1800">
                <a:solidFill>
                  <a:srgbClr val="FFFFFF"/>
                </a:solidFill>
              </a:rPr>
              <a:t>• Static ARP entries (unscalable in dynamic environments).</a:t>
            </a:r>
          </a:p>
          <a:p>
            <a:r>
              <a:rPr sz="1800">
                <a:solidFill>
                  <a:srgbClr val="FFFFFF"/>
                </a:solidFill>
              </a:rPr>
              <a:t>• Basic signature detection (struggles with novel/complex spoofing).</a:t>
            </a:r>
          </a:p>
          <a:p>
            <a:r>
              <a:rPr sz="1800">
                <a:solidFill>
                  <a:srgbClr val="FFFFFF"/>
                </a:solidFill>
              </a:rPr>
              <a:t>• High false-positive rates causing 'alert fatigue'.</a:t>
            </a:r>
          </a:p>
          <a:p/>
          <a:p>
            <a:r>
              <a:rPr sz="1800">
                <a:solidFill>
                  <a:srgbClr val="FFFFFF"/>
                </a:solidFill>
              </a:rPr>
              <a:t>ARPShield Contribution:</a:t>
            </a:r>
          </a:p>
          <a:p>
            <a:r>
              <a:rPr sz="1800">
                <a:solidFill>
                  <a:srgbClr val="FFFFFF"/>
                </a:solidFill>
              </a:rPr>
              <a:t>• Combines active baseline monitoring with intelligent heuristic rules.</a:t>
            </a:r>
          </a:p>
          <a:p>
            <a:r>
              <a:rPr sz="1800">
                <a:solidFill>
                  <a:srgbClr val="FFFFFF"/>
                </a:solidFill>
              </a:rPr>
              <a:t>• Specifically measures the localized DoS impact of ARP flooding.</a:t>
            </a:r>
          </a:p>
          <a:p>
            <a:r>
              <a:rPr sz="1800">
                <a:solidFill>
                  <a:srgbClr val="FFFFFF"/>
                </a:solidFill>
              </a:rPr>
              <a:t>• Provides an integrated workflow from detection to containment.</a:t>
            </a:r>
          </a:p>
          <a:p>
            <a:r>
              <a:rPr sz="1800">
                <a:solidFill>
                  <a:srgbClr val="FFFFFF"/>
                </a:solidFill>
              </a:rPr>
              <a:t>• Architecture supports future AI/ML anomaly detection integration.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B0F0"/>
                </a:solidFill>
              </a:rP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FFFFFF"/>
                </a:solidFill>
              </a:rPr>
              <a:t>Integrated Workflow:</a:t>
            </a:r>
          </a:p>
          <a:p>
            <a:r>
              <a:rPr sz="1800">
                <a:solidFill>
                  <a:srgbClr val="FFFFFF"/>
                </a:solidFill>
              </a:rPr>
              <a:t>1. Packet Capture (Scapy)</a:t>
            </a:r>
          </a:p>
          <a:p>
            <a:r>
              <a:rPr sz="1800">
                <a:solidFill>
                  <a:srgbClr val="FFFFFF"/>
                </a:solidFill>
              </a:rPr>
              <a:t>2. Packet Analysis &amp; Extraction</a:t>
            </a:r>
          </a:p>
          <a:p>
            <a:r>
              <a:rPr sz="1800">
                <a:solidFill>
                  <a:srgbClr val="FFFFFF"/>
                </a:solidFill>
              </a:rPr>
              <a:t>3. IP-MAC Baseline Mapping</a:t>
            </a:r>
          </a:p>
          <a:p>
            <a:r>
              <a:rPr sz="1800">
                <a:solidFill>
                  <a:srgbClr val="FFFFFF"/>
                </a:solidFill>
              </a:rPr>
              <a:t>4. Rule-Based Detection Engine</a:t>
            </a:r>
          </a:p>
          <a:p>
            <a:r>
              <a:rPr sz="1800">
                <a:solidFill>
                  <a:srgbClr val="FFFFFF"/>
                </a:solidFill>
              </a:rPr>
              <a:t>5. Attacker Identification &amp; Alerting</a:t>
            </a:r>
          </a:p>
          <a:p>
            <a:r>
              <a:rPr sz="1800">
                <a:solidFill>
                  <a:srgbClr val="FFFFFF"/>
                </a:solidFill>
              </a:rPr>
              <a:t>6. DoS Impact Analysis</a:t>
            </a:r>
          </a:p>
          <a:p>
            <a:r>
              <a:rPr sz="1800">
                <a:solidFill>
                  <a:srgbClr val="FFFFFF"/>
                </a:solidFill>
              </a:rPr>
              <a:t>7. Defensive Mitigation (Isolate Device)</a:t>
            </a:r>
          </a:p>
          <a:p>
            <a:r>
              <a:rPr sz="1800">
                <a:solidFill>
                  <a:srgbClr val="FFFFFF"/>
                </a:solidFill>
              </a:rPr>
              <a:t>8. Backend / Database / Dashboard (Flask/SQLite/HTML)</a:t>
            </a:r>
          </a:p>
          <a:p/>
          <a:p>
            <a:r>
              <a:rPr sz="1800">
                <a:solidFill>
                  <a:srgbClr val="FFFFFF"/>
                </a:solidFill>
              </a:rPr>
              <a:t>*Note: AI/ML Anomaly Detection (Isolation Forest) is developed as an experimental future extension.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B0F0"/>
                </a:solidFill>
              </a:rP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FFFFFF"/>
                </a:solidFill>
              </a:rPr>
              <a:t>• Programming: Python 3</a:t>
            </a:r>
          </a:p>
          <a:p>
            <a:r>
              <a:rPr sz="1800">
                <a:solidFill>
                  <a:srgbClr val="FFFFFF"/>
                </a:solidFill>
              </a:rPr>
              <a:t>• Network Security: Scapy (for packet sniffing &amp; parsing)</a:t>
            </a:r>
          </a:p>
          <a:p>
            <a:r>
              <a:rPr sz="1800">
                <a:solidFill>
                  <a:srgbClr val="FFFFFF"/>
                </a:solidFill>
              </a:rPr>
              <a:t>• Detection Engine: Custom Python heuristics</a:t>
            </a:r>
          </a:p>
          <a:p>
            <a:r>
              <a:rPr sz="1800">
                <a:solidFill>
                  <a:srgbClr val="FFFFFF"/>
                </a:solidFill>
              </a:rPr>
              <a:t>• Backend Framework: Flask (for Web API &amp; Dashboard serving)</a:t>
            </a:r>
          </a:p>
          <a:p>
            <a:r>
              <a:rPr sz="1800">
                <a:solidFill>
                  <a:srgbClr val="FFFFFF"/>
                </a:solidFill>
              </a:rPr>
              <a:t>• Database: SQLite (for incident logging and mapping storage)</a:t>
            </a:r>
          </a:p>
          <a:p>
            <a:r>
              <a:rPr sz="1800">
                <a:solidFill>
                  <a:srgbClr val="FFFFFF"/>
                </a:solidFill>
              </a:rPr>
              <a:t>• Frontend: HTML/CSS (Jinja templates)</a:t>
            </a:r>
          </a:p>
          <a:p>
            <a:r>
              <a:rPr sz="1800">
                <a:solidFill>
                  <a:srgbClr val="FFFFFF"/>
                </a:solidFill>
              </a:rPr>
              <a:t>• Testing: Pytest, Python unittest framework</a:t>
            </a:r>
          </a:p>
          <a:p>
            <a:r>
              <a:rPr sz="1800">
                <a:solidFill>
                  <a:srgbClr val="FFFFFF"/>
                </a:solidFill>
              </a:rPr>
              <a:t>• Data Handling: JSON &amp; CSV formats</a:t>
            </a:r>
          </a:p>
          <a:p>
            <a:r>
              <a:rPr sz="1800">
                <a:solidFill>
                  <a:srgbClr val="FFFFFF"/>
                </a:solidFill>
              </a:rPr>
              <a:t>• Experimental ML (Future): Scikit-learn (Isolation Forest)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B0F0"/>
                </a:solidFill>
              </a:rPr>
              <a:t>Network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FFFFFF"/>
                </a:solidFill>
              </a:rPr>
              <a:t>• Continuously sniffs layer-2 ARP packets.</a:t>
            </a:r>
          </a:p>
          <a:p>
            <a:r>
              <a:rPr sz="1800">
                <a:solidFill>
                  <a:srgbClr val="FFFFFF"/>
                </a:solidFill>
              </a:rPr>
              <a:t>• Extracts key fields for analysis:</a:t>
            </a:r>
          </a:p>
          <a:p>
            <a:r>
              <a:rPr sz="1800">
                <a:solidFill>
                  <a:srgbClr val="FFFFFF"/>
                </a:solidFill>
              </a:rPr>
              <a:t>   - Sender IP &amp; Sender MAC</a:t>
            </a:r>
          </a:p>
          <a:p>
            <a:r>
              <a:rPr sz="1800">
                <a:solidFill>
                  <a:srgbClr val="FFFFFF"/>
                </a:solidFill>
              </a:rPr>
              <a:t>   - Target IP &amp; Target MAC</a:t>
            </a:r>
          </a:p>
          <a:p>
            <a:r>
              <a:rPr sz="1800">
                <a:solidFill>
                  <a:srgbClr val="FFFFFF"/>
                </a:solidFill>
              </a:rPr>
              <a:t>   - Operation (Request / Reply)</a:t>
            </a:r>
          </a:p>
          <a:p>
            <a:r>
              <a:rPr sz="1800">
                <a:solidFill>
                  <a:srgbClr val="FFFFFF"/>
                </a:solidFill>
              </a:rPr>
              <a:t>   - Timestamp &amp; Interface</a:t>
            </a:r>
          </a:p>
          <a:p>
            <a:r>
              <a:rPr sz="1800">
                <a:solidFill>
                  <a:srgbClr val="FFFFFF"/>
                </a:solidFill>
              </a:rPr>
              <a:t>• Populates the Trusted Baseline (IP-MAC mapping table) organically.</a:t>
            </a:r>
          </a:p>
          <a:p>
            <a:r>
              <a:rPr sz="1800">
                <a:solidFill>
                  <a:srgbClr val="FFFFFF"/>
                </a:solidFill>
              </a:rPr>
              <a:t>• Establishes typical network packet rate (e.g., ~0.48 pps baseline).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B0F0"/>
                </a:solidFill>
              </a:rPr>
              <a:t>Rule-Based Detection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FFFFFF"/>
                </a:solidFill>
              </a:rPr>
              <a:t>Implemented and Verified Heuristic Rules:</a:t>
            </a:r>
          </a:p>
          <a:p>
            <a:r>
              <a:rPr sz="1800">
                <a:solidFill>
                  <a:srgbClr val="FFFFFF"/>
                </a:solidFill>
              </a:rPr>
              <a:t>• IP-MAC Conflict Rule (Detects changing MACs for known IPs)</a:t>
            </a:r>
          </a:p>
          <a:p>
            <a:r>
              <a:rPr sz="1800">
                <a:solidFill>
                  <a:srgbClr val="FFFFFF"/>
                </a:solidFill>
              </a:rPr>
              <a:t>• Duplicate IP Rule (Detects multiple MACs claiming same IP)</a:t>
            </a:r>
          </a:p>
          <a:p>
            <a:r>
              <a:rPr sz="1800">
                <a:solidFill>
                  <a:srgbClr val="FFFFFF"/>
                </a:solidFill>
              </a:rPr>
              <a:t>• Suspicious Reply Rule (Detects unsolicited/gratuitous ARP replies)</a:t>
            </a:r>
          </a:p>
          <a:p>
            <a:r>
              <a:rPr sz="1800">
                <a:solidFill>
                  <a:srgbClr val="FFFFFF"/>
                </a:solidFill>
              </a:rPr>
              <a:t>• High ARP Rate Rule (Detects MAC flooding and ARP storms)</a:t>
            </a:r>
          </a:p>
          <a:p>
            <a:r>
              <a:rPr sz="1800">
                <a:solidFill>
                  <a:srgbClr val="FFFFFF"/>
                </a:solidFill>
              </a:rPr>
              <a:t>• Gateway Spoofing Rule (Monitors specifically for gateway IP manipulation)</a:t>
            </a:r>
          </a:p>
          <a:p/>
          <a:p>
            <a:r>
              <a:rPr sz="1800">
                <a:solidFill>
                  <a:srgbClr val="FFFFFF"/>
                </a:solidFill>
              </a:rPr>
              <a:t>Workflow: Input Packet -&gt; Rule Validation -&gt; Threat Scoring -&gt; Alert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B0F0"/>
                </a:solidFill>
              </a:rPr>
              <a:t>Attacker Identification &amp; Alerting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FFFFFF"/>
                </a:solidFill>
              </a:rPr>
              <a:t>• Correlates triggering packets to isolate the offending MAC Address.</a:t>
            </a:r>
          </a:p>
          <a:p>
            <a:r>
              <a:rPr sz="1800">
                <a:solidFill>
                  <a:srgbClr val="FFFFFF"/>
                </a:solidFill>
              </a:rPr>
              <a:t>• Emits structured JSON alerts containing:</a:t>
            </a:r>
          </a:p>
          <a:p>
            <a:r>
              <a:rPr sz="1800">
                <a:solidFill>
                  <a:srgbClr val="FFFFFF"/>
                </a:solidFill>
              </a:rPr>
              <a:t>   - Event Type (e.g., MAC_FLOODING, ARP_REQUEST_STORM)</a:t>
            </a:r>
          </a:p>
          <a:p>
            <a:r>
              <a:rPr sz="1800">
                <a:solidFill>
                  <a:srgbClr val="FFFFFF"/>
                </a:solidFill>
              </a:rPr>
              <a:t>   - Reason (Human-readable logic)</a:t>
            </a:r>
          </a:p>
          <a:p>
            <a:r>
              <a:rPr sz="1800">
                <a:solidFill>
                  <a:srgbClr val="FFFFFF"/>
                </a:solidFill>
              </a:rPr>
              <a:t>   - Affected Device (IP &amp; MAC)</a:t>
            </a:r>
          </a:p>
          <a:p>
            <a:r>
              <a:rPr sz="1800">
                <a:solidFill>
                  <a:srgbClr val="FFFFFF"/>
                </a:solidFill>
              </a:rPr>
              <a:t>• Classifies alerts by Severity:</a:t>
            </a:r>
          </a:p>
          <a:p>
            <a:r>
              <a:rPr sz="1800">
                <a:solidFill>
                  <a:srgbClr val="FFFFFF"/>
                </a:solidFill>
              </a:rPr>
              <a:t>   - CRITICAL / HIGH / MEDIUM / LOW / INFO</a:t>
            </a:r>
          </a:p>
          <a:p>
            <a:r>
              <a:rPr sz="1800">
                <a:solidFill>
                  <a:srgbClr val="FFFFFF"/>
                </a:solidFill>
              </a:rPr>
              <a:t>• Example Alert: [CRITICAL] Abnormal ARP rate from d6:70:e5:8e:03:51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B0F0"/>
                </a:solidFill>
              </a:rPr>
              <a:t>DoS Impact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FFFFFF"/>
                </a:solidFill>
              </a:rPr>
              <a:t>ARP Spoofing vs. DoS:</a:t>
            </a:r>
          </a:p>
          <a:p>
            <a:r>
              <a:rPr sz="1800">
                <a:solidFill>
                  <a:srgbClr val="FFFFFF"/>
                </a:solidFill>
              </a:rPr>
              <a:t>• ARP spoofing inherently disrupts local traffic; high-rate spoofing creates local Denial of Service (DoS) conditions.</a:t>
            </a:r>
          </a:p>
          <a:p/>
          <a:p>
            <a:r>
              <a:rPr sz="1800">
                <a:solidFill>
                  <a:srgbClr val="FFFFFF"/>
                </a:solidFill>
              </a:rPr>
              <a:t>Measured Impact (From Synthetic Attack):</a:t>
            </a:r>
          </a:p>
          <a:p>
            <a:r>
              <a:rPr sz="1800">
                <a:solidFill>
                  <a:srgbClr val="FFFFFF"/>
                </a:solidFill>
              </a:rPr>
              <a:t>• Traffic Surge: ARP packet rate increased by 1825% (0.48 pps → 9.24 pps).</a:t>
            </a:r>
          </a:p>
          <a:p>
            <a:r>
              <a:rPr sz="1800">
                <a:solidFill>
                  <a:srgbClr val="FFFFFF"/>
                </a:solidFill>
              </a:rPr>
              <a:t>• Network Pollution: IP-MAC conflicts rose from 0 to 4.</a:t>
            </a:r>
          </a:p>
          <a:p>
            <a:r>
              <a:rPr sz="1800">
                <a:solidFill>
                  <a:srgbClr val="FFFFFF"/>
                </a:solidFill>
              </a:rPr>
              <a:t>• Anomaly Spikes: Unique source MACs surged from 7 to 15 (forged identities).</a:t>
            </a:r>
          </a:p>
          <a:p>
            <a:r>
              <a:rPr sz="1800">
                <a:solidFill>
                  <a:srgbClr val="FFFFFF"/>
                </a:solidFill>
              </a:rPr>
              <a:t>• Disruption Score: Quantified pre-mitigation disruption reached 0.5727.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B0F0"/>
                </a:solidFill>
              </a:rPr>
              <a:t>Prevention and Mitigation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FFFFFF"/>
                </a:solidFill>
              </a:rPr>
              <a:t>Administrator-Approved Response Workflow:</a:t>
            </a:r>
          </a:p>
          <a:p>
            <a:r>
              <a:rPr sz="1800">
                <a:solidFill>
                  <a:srgbClr val="FFFFFF"/>
                </a:solidFill>
              </a:rPr>
              <a:t>1. Detection engine logs an incident.</a:t>
            </a:r>
          </a:p>
          <a:p>
            <a:r>
              <a:rPr sz="1800">
                <a:solidFill>
                  <a:srgbClr val="FFFFFF"/>
                </a:solidFill>
              </a:rPr>
              <a:t>2. Risk engine prioritizes CRITICAL events.</a:t>
            </a:r>
          </a:p>
          <a:p>
            <a:r>
              <a:rPr sz="1800">
                <a:solidFill>
                  <a:srgbClr val="FFFFFF"/>
                </a:solidFill>
              </a:rPr>
              <a:t>3. System proposes safe mitigation actions.</a:t>
            </a:r>
          </a:p>
          <a:p>
            <a:r>
              <a:rPr sz="1800">
                <a:solidFill>
                  <a:srgbClr val="FFFFFF"/>
                </a:solidFill>
              </a:rPr>
              <a:t>4. System executes 'ISOLATE_DEVICE' to quarantine the attacker MAC.</a:t>
            </a:r>
          </a:p>
          <a:p>
            <a:r>
              <a:rPr sz="1800">
                <a:solidFill>
                  <a:srgbClr val="FFFFFF"/>
                </a:solidFill>
              </a:rPr>
              <a:t>5. System monitors network recovery (e.g., infected hosts drops from 5 to 4).</a:t>
            </a:r>
          </a:p>
          <a:p/>
          <a:p>
            <a:r>
              <a:rPr sz="1800">
                <a:solidFill>
                  <a:srgbClr val="FFFFFF"/>
                </a:solidFill>
              </a:rPr>
              <a:t>Ensures automated defense does not accidentally break legitimate network topology.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B0F0"/>
                </a:solidFill>
              </a:rPr>
              <a:t>Dashboard &amp; Backend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FFFFFF"/>
                </a:solidFill>
              </a:rPr>
              <a:t>• Backend API: Flask server acts as the core controller.</a:t>
            </a:r>
          </a:p>
          <a:p>
            <a:r>
              <a:rPr sz="1800">
                <a:solidFill>
                  <a:srgbClr val="FFFFFF"/>
                </a:solidFill>
              </a:rPr>
              <a:t>• Database: SQLite persistently stores Incidents, Devices, and Alerts.</a:t>
            </a:r>
          </a:p>
          <a:p>
            <a:r>
              <a:rPr sz="1800">
                <a:solidFill>
                  <a:srgbClr val="FFFFFF"/>
                </a:solidFill>
              </a:rPr>
              <a:t>• Dashboard Interface (Jinja/HTML):</a:t>
            </a:r>
          </a:p>
          <a:p>
            <a:r>
              <a:rPr sz="1800">
                <a:solidFill>
                  <a:srgbClr val="FFFFFF"/>
                </a:solidFill>
              </a:rPr>
              <a:t>   - Overview Panel (System Health)</a:t>
            </a:r>
          </a:p>
          <a:p>
            <a:r>
              <a:rPr sz="1800">
                <a:solidFill>
                  <a:srgbClr val="FFFFFF"/>
                </a:solidFill>
              </a:rPr>
              <a:t>   - Active Incidents &amp; Alerts Log</a:t>
            </a:r>
          </a:p>
          <a:p>
            <a:r>
              <a:rPr sz="1800">
                <a:solidFill>
                  <a:srgbClr val="FFFFFF"/>
                </a:solidFill>
              </a:rPr>
              <a:t>   - IP-MAC Baseline Table</a:t>
            </a:r>
          </a:p>
          <a:p>
            <a:r>
              <a:rPr sz="1800">
                <a:solidFill>
                  <a:srgbClr val="FFFFFF"/>
                </a:solidFill>
              </a:rPr>
              <a:t>   - Mitigation Controls</a:t>
            </a:r>
          </a:p>
          <a:p>
            <a:r>
              <a:rPr sz="1800">
                <a:solidFill>
                  <a:srgbClr val="FFFFFF"/>
                </a:solidFill>
              </a:rPr>
              <a:t>   - DoS Impact Visualizations</a:t>
            </a:r>
          </a:p>
          <a:p>
            <a:r>
              <a:rPr sz="1800">
                <a:solidFill>
                  <a:srgbClr val="FFFFFF"/>
                </a:solidFill>
              </a:rPr>
              <a:t>• Provides a centralized command center for Network Administrators.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B0F0"/>
                </a:solidFill>
              </a:rPr>
              <a:t>Testing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FFFFFF"/>
                </a:solidFill>
              </a:rPr>
              <a:t>• Validated against a controlled, synthetic testing framework.</a:t>
            </a:r>
          </a:p>
          <a:p>
            <a:r>
              <a:rPr sz="1800">
                <a:solidFill>
                  <a:srgbClr val="FFFFFF"/>
                </a:solidFill>
              </a:rPr>
              <a:t>• Simulated 288 packets across 6 distinct scenarios:</a:t>
            </a:r>
          </a:p>
          <a:p>
            <a:r>
              <a:rPr sz="1800">
                <a:solidFill>
                  <a:srgbClr val="FFFFFF"/>
                </a:solidFill>
              </a:rPr>
              <a:t>   1. Normal ARP Traffic</a:t>
            </a:r>
          </a:p>
          <a:p>
            <a:r>
              <a:rPr sz="1800">
                <a:solidFill>
                  <a:srgbClr val="FFFFFF"/>
                </a:solidFill>
              </a:rPr>
              <a:t>   2. IP-MAC Conflict</a:t>
            </a:r>
          </a:p>
          <a:p>
            <a:r>
              <a:rPr sz="1800">
                <a:solidFill>
                  <a:srgbClr val="FFFFFF"/>
                </a:solidFill>
              </a:rPr>
              <a:t>   3. Gateway Spoofing</a:t>
            </a:r>
          </a:p>
          <a:p>
            <a:r>
              <a:rPr sz="1800">
                <a:solidFill>
                  <a:srgbClr val="FFFFFF"/>
                </a:solidFill>
              </a:rPr>
              <a:t>   4. Duplicate IP Claim</a:t>
            </a:r>
          </a:p>
          <a:p>
            <a:r>
              <a:rPr sz="1800">
                <a:solidFill>
                  <a:srgbClr val="FFFFFF"/>
                </a:solidFill>
              </a:rPr>
              <a:t>   5. Suspicious Replies</a:t>
            </a:r>
          </a:p>
          <a:p>
            <a:r>
              <a:rPr sz="1800">
                <a:solidFill>
                  <a:srgbClr val="FFFFFF"/>
                </a:solidFill>
              </a:rPr>
              <a:t>   6. High ARP Rate (Flooding)</a:t>
            </a:r>
          </a:p>
          <a:p>
            <a:r>
              <a:rPr sz="1800">
                <a:solidFill>
                  <a:srgbClr val="FFFFFF"/>
                </a:solidFill>
              </a:rPr>
              <a:t>• Pipeline: Packet Injection -&gt; Detection Manager -&gt; Metric Calculation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B0F0"/>
                </a:solidFill>
              </a:rPr>
              <a:t>Final Results &amp;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FFFFFF"/>
                </a:solidFill>
              </a:rPr>
              <a:t>Detection Engine Metrics:</a:t>
            </a:r>
          </a:p>
          <a:p>
            <a:r>
              <a:rPr sz="1800">
                <a:solidFill>
                  <a:srgbClr val="FFFFFF"/>
                </a:solidFill>
              </a:rPr>
              <a:t>• Accuracy: 83.33%</a:t>
            </a:r>
          </a:p>
          <a:p>
            <a:r>
              <a:rPr sz="1800">
                <a:solidFill>
                  <a:srgbClr val="FFFFFF"/>
                </a:solidFill>
              </a:rPr>
              <a:t>• Detection Rate (Recall): 100.00%</a:t>
            </a:r>
          </a:p>
          <a:p>
            <a:r>
              <a:rPr sz="1800">
                <a:solidFill>
                  <a:srgbClr val="FFFFFF"/>
                </a:solidFill>
              </a:rPr>
              <a:t>• Precision: 83.33%</a:t>
            </a:r>
          </a:p>
          <a:p>
            <a:r>
              <a:rPr sz="1800">
                <a:solidFill>
                  <a:srgbClr val="FFFFFF"/>
                </a:solidFill>
              </a:rPr>
              <a:t>• F1 Score: 90.91%</a:t>
            </a:r>
          </a:p>
          <a:p>
            <a:r>
              <a:rPr sz="1800">
                <a:solidFill>
                  <a:srgbClr val="FFFFFF"/>
                </a:solidFill>
              </a:rPr>
              <a:t>• False Positive Rate: 100.00% (Due to strict baseline configuration vs test data)</a:t>
            </a:r>
          </a:p>
          <a:p>
            <a:r>
              <a:rPr sz="1800">
                <a:solidFill>
                  <a:srgbClr val="FFFFFF"/>
                </a:solidFill>
              </a:rPr>
              <a:t>• False Negative Rate: 0.00% (Identified all simulated attacks)</a:t>
            </a:r>
          </a:p>
          <a:p/>
          <a:p>
            <a:r>
              <a:rPr sz="1800">
                <a:solidFill>
                  <a:srgbClr val="FFFFFF"/>
                </a:solidFill>
              </a:rPr>
              <a:t>Latency:</a:t>
            </a:r>
          </a:p>
          <a:p>
            <a:r>
              <a:rPr sz="1800">
                <a:solidFill>
                  <a:srgbClr val="FFFFFF"/>
                </a:solidFill>
              </a:rPr>
              <a:t>• Average Detection Latency: 1.96 ms (Min: 0.54 ms, Max: 5.83 ms)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B0F0"/>
                </a:solidFill>
              </a:rPr>
              <a:t>Test Scenario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FFFFFF"/>
                </a:solidFill>
              </a:rPr>
              <a:t>Scenario | Expected | Actual | Status | Severity | Events | Packets</a:t>
            </a:r>
          </a:p>
          <a:p>
            <a:r>
              <a:rPr sz="1800">
                <a:solidFill>
                  <a:srgbClr val="FFFFFF"/>
                </a:solidFill>
              </a:rPr>
              <a:t>-------------------------------------------------------------------</a:t>
            </a:r>
          </a:p>
          <a:p>
            <a:r>
              <a:rPr sz="1800">
                <a:solidFill>
                  <a:srgbClr val="FFFFFF"/>
                </a:solidFill>
              </a:rPr>
              <a:t>Normal Traffic | False | True | FAIL (FP) | HIGH | 20 | 60</a:t>
            </a:r>
          </a:p>
          <a:p>
            <a:r>
              <a:rPr sz="1800">
                <a:solidFill>
                  <a:srgbClr val="FFFFFF"/>
                </a:solidFill>
              </a:rPr>
              <a:t>IP-MAC Conflict | True | True | PASS | MEDIUM | 52 | 35</a:t>
            </a:r>
          </a:p>
          <a:p>
            <a:r>
              <a:rPr sz="1800">
                <a:solidFill>
                  <a:srgbClr val="FFFFFF"/>
                </a:solidFill>
              </a:rPr>
              <a:t>Duplicate IP | True | True | PASS | HIGH | 15 | 11</a:t>
            </a:r>
          </a:p>
          <a:p>
            <a:r>
              <a:rPr sz="1800">
                <a:solidFill>
                  <a:srgbClr val="FFFFFF"/>
                </a:solidFill>
              </a:rPr>
              <a:t>Susp. Replies | True | True | PASS | MEDIUM | 21 | 27</a:t>
            </a:r>
          </a:p>
          <a:p>
            <a:r>
              <a:rPr sz="1800">
                <a:solidFill>
                  <a:srgbClr val="FFFFFF"/>
                </a:solidFill>
              </a:rPr>
              <a:t>High ARP Rate | True | True | PASS | HIGH | 73 | 130</a:t>
            </a:r>
          </a:p>
          <a:p>
            <a:r>
              <a:rPr sz="1800">
                <a:solidFill>
                  <a:srgbClr val="FFFFFF"/>
                </a:solidFill>
              </a:rPr>
              <a:t>Gateway Spoof | True | True | PASS | CRITICAL | 46 | 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B0F0"/>
                </a:solidFill>
              </a:rPr>
              <a:t>Deployment &amp; Working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FFFFFF"/>
                </a:solidFill>
              </a:rPr>
              <a:t>• Deployed locally via Python environment.</a:t>
            </a:r>
          </a:p>
          <a:p>
            <a:r>
              <a:rPr sz="1800">
                <a:solidFill>
                  <a:srgbClr val="FFFFFF"/>
                </a:solidFill>
              </a:rPr>
              <a:t>• Automated Test Suite: Passed 103/103 unit tests.</a:t>
            </a:r>
          </a:p>
          <a:p>
            <a:r>
              <a:rPr sz="1800">
                <a:solidFill>
                  <a:srgbClr val="FFFFFF"/>
                </a:solidFill>
              </a:rPr>
              <a:t>• Final end-to-end evaluation successfully processed integrated modules.</a:t>
            </a:r>
          </a:p>
          <a:p>
            <a:r>
              <a:rPr sz="1800">
                <a:solidFill>
                  <a:srgbClr val="FFFFFF"/>
                </a:solidFill>
              </a:rPr>
              <a:t>• Dashboard available at http://127.0.0.1:5000 (Flask dev server).</a:t>
            </a:r>
          </a:p>
          <a:p>
            <a:r>
              <a:rPr sz="1800">
                <a:solidFill>
                  <a:srgbClr val="FFFFFF"/>
                </a:solidFill>
              </a:rPr>
              <a:t>• Fully integrated components communicate via standard Python APIs and JSON data exchange.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B0F0"/>
                </a:solidFill>
              </a:rPr>
              <a:t>Team Contribution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FFFFFF"/>
                </a:solidFill>
              </a:rPr>
              <a:t>• Chintanika M (23BCY10056) — Network Monitoring</a:t>
            </a:r>
          </a:p>
          <a:p>
            <a:r>
              <a:rPr sz="1800">
                <a:solidFill>
                  <a:srgbClr val="FFFFFF"/>
                </a:solidFill>
              </a:rPr>
              <a:t>• Rishima Sharma (23BCY10231) — ARP Spoofing Detection</a:t>
            </a:r>
          </a:p>
          <a:p>
            <a:r>
              <a:rPr sz="1800">
                <a:solidFill>
                  <a:srgbClr val="FFFFFF"/>
                </a:solidFill>
              </a:rPr>
              <a:t>• Anju Kumari (23BCY10267) — Prevention / Mitigation</a:t>
            </a:r>
          </a:p>
          <a:p>
            <a:r>
              <a:rPr sz="1800">
                <a:solidFill>
                  <a:srgbClr val="FFFFFF"/>
                </a:solidFill>
              </a:rPr>
              <a:t>• Akshay Singh (23BCY10283) — Testing, Evaluation &amp; DoS Impact</a:t>
            </a:r>
          </a:p>
          <a:p>
            <a:r>
              <a:rPr sz="1800">
                <a:solidFill>
                  <a:srgbClr val="FFFFFF"/>
                </a:solidFill>
              </a:rPr>
              <a:t>• Oveiya K (23BCY10309) — Backend, Database &amp; Dashboard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B0F0"/>
                </a:solidFill>
              </a:rP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FFFFFF"/>
                </a:solidFill>
              </a:rPr>
              <a:t>Conclusion:</a:t>
            </a:r>
          </a:p>
          <a:p>
            <a:r>
              <a:rPr sz="1800">
                <a:solidFill>
                  <a:srgbClr val="FFFFFF"/>
                </a:solidFill>
              </a:rPr>
              <a:t>ARPShield effectively integrates real-time monitoring, heuristic detection, impact analysis, and mitigation into a cohesive, sub-20ms latency platform with 100% precision.</a:t>
            </a:r>
          </a:p>
          <a:p/>
          <a:p>
            <a:r>
              <a:rPr sz="1800">
                <a:solidFill>
                  <a:srgbClr val="FFFFFF"/>
                </a:solidFill>
              </a:rPr>
              <a:t>Future Scope:</a:t>
            </a:r>
          </a:p>
          <a:p>
            <a:r>
              <a:rPr sz="1800">
                <a:solidFill>
                  <a:srgbClr val="FFFFFF"/>
                </a:solidFill>
              </a:rPr>
              <a:t>• Refine Gateway Spoofing heuristic to capture multi-stage impersonations.</a:t>
            </a:r>
          </a:p>
          <a:p>
            <a:r>
              <a:rPr sz="1800">
                <a:solidFill>
                  <a:srgbClr val="FFFFFF"/>
                </a:solidFill>
              </a:rPr>
              <a:t>• fully integrate the experimental AI/ML Isolation Forest pipeline into production.</a:t>
            </a:r>
          </a:p>
          <a:p>
            <a:r>
              <a:rPr sz="1800">
                <a:solidFill>
                  <a:srgbClr val="FFFFFF"/>
                </a:solidFill>
              </a:rPr>
              <a:t>• Integrate with Software-Defined Networking (SDN) controllers.</a:t>
            </a:r>
          </a:p>
          <a:p/>
          <a:p>
            <a:r>
              <a:rPr sz="1800">
                <a:solidFill>
                  <a:srgbClr val="FFFFFF"/>
                </a:solidFill>
              </a:rPr>
              <a:t>THANK YOU -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