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9144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27432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36576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45720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54864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9440" y="1463040"/>
            <a:ext cx="731520" cy="731520"/>
          </a:xfrm>
          <a:prstGeom prst="ellipse">
            <a:avLst/>
          </a:prstGeom>
          <a:noFill/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7" name="Oval 16"/>
          <p:cNvSpPr/>
          <p:nvPr/>
        </p:nvSpPr>
        <p:spPr>
          <a:xfrm>
            <a:off x="8778240" y="1463040"/>
            <a:ext cx="731520" cy="731520"/>
          </a:xfrm>
          <a:prstGeom prst="ellipse">
            <a:avLst/>
          </a:prstGeom>
          <a:noFill/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86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SWITCH</a:t>
            </a:r>
          </a:p>
        </p:txBody>
      </p:sp>
      <p:sp>
        <p:nvSpPr>
          <p:cNvPr id="19" name="Oval 18"/>
          <p:cNvSpPr/>
          <p:nvPr/>
        </p:nvSpPr>
        <p:spPr>
          <a:xfrm>
            <a:off x="10607040" y="1463040"/>
            <a:ext cx="731520" cy="731520"/>
          </a:xfrm>
          <a:prstGeom prst="ellipse">
            <a:avLst/>
          </a:prstGeom>
          <a:noFill/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286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0" y="4206240"/>
            <a:ext cx="731520" cy="731520"/>
          </a:xfrm>
          <a:prstGeom prst="ellipse">
            <a:avLst/>
          </a:prstGeom>
          <a:noFill/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5029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3B3B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801368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801368"/>
            <a:ext cx="1097280" cy="381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6568" y="2194560"/>
            <a:ext cx="38100" cy="201168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0" y="2926080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9260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FORGED ARP TRAFFIC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914400"/>
            <a:ext cx="731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1051560"/>
            <a:ext cx="4572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400" b="1">
                <a:solidFill>
                  <a:srgbClr val="00D4FF"/>
                </a:solidFill>
                <a:latin typeface="Calibri"/>
              </a:defRPr>
            </a:pPr>
            <a:r>
              <a:t>ARPShield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1920240"/>
            <a:ext cx="4114800" cy="508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194560"/>
            <a:ext cx="4572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REAL-TIME ARP SPOOFING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DETECTION &amp; DDOS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PREVENTION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29184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alibri"/>
              </a:defRPr>
            </a:pPr>
            <a:r>
              <a:t>Official Topic:</a:t>
            </a:r>
            <a:br/>
            <a:r>
              <a:t>ARP Spoofing Attack Detection to Prevent DDoS Attack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GROUP 52</a:t>
            </a:r>
            <a:br/>
            <a:r>
              <a:t>VIT BHOPAL UNIVERSITY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Supervisor: Dr. Sreevani Maddukuri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607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B748C"/>
                </a:solidFill>
                <a:latin typeface="Calibri"/>
              </a:defRPr>
            </a:pPr>
            <a:r>
              <a:t>Chintanika M (23BCY10056)  •  Rishima Sharma (23BCY10231)  •  Anju Kumari (23BCY10267)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B748C"/>
                </a:solidFill>
                <a:latin typeface="Calibri"/>
              </a:defRPr>
            </a:pPr>
            <a:r>
              <a:t>Akshay Singh (23BCY10283)  •  Oveiya K (23BCY10309)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SECURITY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LEGITIMATE TRAFFIC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731520" y="16459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VICTIM</a:t>
            </a:r>
          </a:p>
        </p:txBody>
      </p:sp>
      <p:sp xmlns:ns1="http://schemas.openxmlformats.org/drawingml/2006/spreadsheetDrawing" ns1:editAs="oneCell">
        <p:nvSpPr>
          <p:cNvPr id="7" name="Rounded Rectangle 6"/>
          <p:cNvSpPr/>
          <p:nvPr/>
        </p:nvSpPr>
        <p:spPr>
          <a:xfrm>
            <a:off x="2560320" y="16459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459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SWITCH</a:t>
            </a:r>
          </a:p>
        </p:txBody>
      </p:sp>
      <p:sp xmlns:ns2="http://schemas.openxmlformats.org/drawingml/2006/spreadsheetDrawing" ns2:editAs="oneCell">
        <p:nvSpPr>
          <p:cNvPr id="9" name="Rounded Rectangle 8"/>
          <p:cNvSpPr/>
          <p:nvPr/>
        </p:nvSpPr>
        <p:spPr>
          <a:xfrm>
            <a:off x="4389120" y="16459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3120" y="1783079"/>
            <a:ext cx="45720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931920" y="1783079"/>
            <a:ext cx="45720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3B3B"/>
                </a:solidFill>
                <a:latin typeface="Calibri"/>
              </a:defRPr>
            </a:pPr>
            <a:r>
              <a:t>ARP SPOOFING ATTACK</a:t>
            </a:r>
          </a:p>
        </p:txBody>
      </p:sp>
      <p:sp xmlns:ns3="http://schemas.openxmlformats.org/drawingml/2006/spreadsheetDrawing" ns3:editAs="oneCell">
        <p:nvSpPr>
          <p:cNvPr id="14" name="Rounded Rectangle 13"/>
          <p:cNvSpPr/>
          <p:nvPr/>
        </p:nvSpPr>
        <p:spPr>
          <a:xfrm>
            <a:off x="731520" y="30175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3B3B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307592" y="3520440"/>
            <a:ext cx="219456" cy="3657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17" name="Rounded Rectangle 16"/>
          <p:cNvSpPr/>
          <p:nvPr/>
        </p:nvSpPr>
        <p:spPr>
          <a:xfrm>
            <a:off x="731520" y="3977639"/>
            <a:ext cx="1371600" cy="4114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FORGED ARP REPLY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307592" y="4434840"/>
            <a:ext cx="219456" cy="3657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20" name="Rounded Rectangle 19"/>
          <p:cNvSpPr/>
          <p:nvPr/>
        </p:nvSpPr>
        <p:spPr>
          <a:xfrm>
            <a:off x="365760" y="4892040"/>
            <a:ext cx="2103120" cy="502920"/>
          </a:xfrm>
          <a:prstGeom prst="roundRect">
            <a:avLst/>
          </a:prstGeom>
          <a:solidFill>
            <a:srgbClr val="2A1010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92040"/>
            <a:ext cx="2103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VICTIM'S IP-MAC</a:t>
            </a:r>
            <a:br/>
            <a:r>
              <a:t>MAPPING CORRUPTED</a:t>
            </a:r>
          </a:p>
        </p:txBody>
      </p:sp>
      <p:sp xmlns:ns6="http://schemas.openxmlformats.org/drawingml/2006/spreadsheetDrawing" ns6:editAs="oneCell">
        <p:nvSpPr>
          <p:cNvPr id="22" name="Rounded Rectangle 21"/>
          <p:cNvSpPr/>
          <p:nvPr/>
        </p:nvSpPr>
        <p:spPr>
          <a:xfrm>
            <a:off x="6400800" y="1097280"/>
            <a:ext cx="5303520" cy="14630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23" name="Rounded Rectangle 22"/>
          <p:cNvSpPr/>
          <p:nvPr/>
        </p:nvSpPr>
        <p:spPr>
          <a:xfrm>
            <a:off x="6583680" y="1234440"/>
            <a:ext cx="502920" cy="502920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2344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B0E1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123444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ARP LACKS 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45920"/>
            <a:ext cx="4206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8D0E0"/>
                </a:solidFill>
                <a:latin typeface="Calibri"/>
              </a:defRPr>
            </a:pPr>
            <a:r>
              <a:t>The ARP protocol has no built-in verification mechanism for sender identity.</a:t>
            </a:r>
          </a:p>
        </p:txBody>
      </p:sp>
      <p:sp xmlns:ns8="http://schemas.openxmlformats.org/drawingml/2006/spreadsheetDrawing" ns8:editAs="oneCell">
        <p:nvSpPr>
          <p:cNvPr id="27" name="Rounded Rectangle 26"/>
          <p:cNvSpPr/>
          <p:nvPr/>
        </p:nvSpPr>
        <p:spPr>
          <a:xfrm>
            <a:off x="6400800" y="2880360"/>
            <a:ext cx="5303520" cy="14630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9="http://schemas.openxmlformats.org/drawingml/2006/spreadsheetDrawing" ns9:editAs="oneCell">
        <p:nvSpPr>
          <p:cNvPr id="28" name="Rounded Rectangle 27"/>
          <p:cNvSpPr/>
          <p:nvPr/>
        </p:nvSpPr>
        <p:spPr>
          <a:xfrm>
            <a:off x="6583680" y="3017520"/>
            <a:ext cx="502920" cy="502920"/>
          </a:xfrm>
          <a:prstGeom prst="round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01752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B0E1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01752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FORGED MAPPINGS ENABLE IMPERSONATION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429000"/>
            <a:ext cx="4206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8D0E0"/>
                </a:solidFill>
                <a:latin typeface="Calibri"/>
              </a:defRPr>
            </a:pPr>
            <a:r>
              <a:t>Attackers can associate their MAC with another host's IP, enabling MitM attacks.</a:t>
            </a:r>
          </a:p>
        </p:txBody>
      </p:sp>
      <p:sp xmlns:ns10="http://schemas.openxmlformats.org/drawingml/2006/spreadsheetDrawing" ns10:editAs="oneCell">
        <p:nvSpPr>
          <p:cNvPr id="32" name="Rounded Rectangle 31"/>
          <p:cNvSpPr/>
          <p:nvPr/>
        </p:nvSpPr>
        <p:spPr>
          <a:xfrm>
            <a:off x="6400800" y="4663440"/>
            <a:ext cx="5303520" cy="14630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1="http://schemas.openxmlformats.org/drawingml/2006/spreadsheetDrawing" ns11:editAs="oneCell">
        <p:nvSpPr>
          <p:cNvPr id="33" name="Rounded Rectangle 32"/>
          <p:cNvSpPr/>
          <p:nvPr/>
        </p:nvSpPr>
        <p:spPr>
          <a:xfrm>
            <a:off x="6583680" y="4800600"/>
            <a:ext cx="502920" cy="502920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8006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B0E1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80060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NETWORK DISRUPTION → DoS CONDITIONS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212080"/>
            <a:ext cx="4206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8D0E0"/>
                </a:solidFill>
                <a:latin typeface="Calibri"/>
              </a:defRPr>
            </a:pPr>
            <a:r>
              <a:t>Corrupted ARP caches can cause traffic blackholes and denial of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ARPShield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36576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Capture live ARP</a:t>
            </a:r>
            <a:br/>
            <a:r>
              <a:t>packets via Scapy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10" name="Rounded Rectangle 9"/>
          <p:cNvSpPr/>
          <p:nvPr/>
        </p:nvSpPr>
        <p:spPr>
          <a:xfrm>
            <a:off x="214884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1760" y="219456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Apply 7 rule-based</a:t>
            </a:r>
            <a:br/>
            <a:r>
              <a:t>heuristic checks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4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6" name="Rounded Rectangle 15"/>
          <p:cNvSpPr/>
          <p:nvPr/>
        </p:nvSpPr>
        <p:spPr>
          <a:xfrm>
            <a:off x="393192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19456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7BFF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Pinpoint attacker</a:t>
            </a:r>
            <a:br/>
            <a:r>
              <a:t>MAC &amp; IP address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53212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22" name="Rounded Rectangle 21"/>
          <p:cNvSpPr/>
          <p:nvPr/>
        </p:nvSpPr>
        <p:spPr>
          <a:xfrm>
            <a:off x="571500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0" y="2194560"/>
            <a:ext cx="594360" cy="5943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B800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Quantify DDoS</a:t>
            </a:r>
            <a:br/>
            <a:r>
              <a:t>impact &amp; disruption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1520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28" name="Rounded Rectangle 27"/>
          <p:cNvSpPr/>
          <p:nvPr/>
        </p:nvSpPr>
        <p:spPr>
          <a:xfrm>
            <a:off x="7498079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0999" y="2194560"/>
            <a:ext cx="594360" cy="5943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999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3B3B"/>
                </a:solidFill>
                <a:latin typeface="Calibri"/>
              </a:defRPr>
            </a:pPr>
            <a:r>
              <a:t>MITIGATE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Isolate malicious</a:t>
            </a:r>
            <a:br/>
            <a:r>
              <a:t>device via firewall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98279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34" name="Rounded Rectangle 33"/>
          <p:cNvSpPr/>
          <p:nvPr/>
        </p:nvSpPr>
        <p:spPr>
          <a:xfrm>
            <a:off x="928116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84080" y="2194560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E676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Restore legitimate</a:t>
            </a:r>
            <a:br/>
            <a:r>
              <a:t>IP-MAC mappings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B748C"/>
                </a:solidFill>
                <a:latin typeface="Calibri"/>
              </a:defRPr>
            </a:pPr>
            <a:r>
              <a:t>From suspicious ARP traffic to actionable network defense.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914400" y="1005840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NETWORK  ·  ARP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network/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76272" y="1481328"/>
            <a:ext cx="219456" cy="109728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8" name="Rounded Rectangle 7"/>
          <p:cNvSpPr/>
          <p:nvPr/>
        </p:nvSpPr>
        <p:spPr>
          <a:xfrm>
            <a:off x="914400" y="1591056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91056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PACKET CAPTURE  (Scapy)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91056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network/sniffer.py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76272" y="2066544"/>
            <a:ext cx="219456" cy="109728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2" name="Rounded Rectangle 11"/>
          <p:cNvSpPr/>
          <p:nvPr/>
        </p:nvSpPr>
        <p:spPr>
          <a:xfrm>
            <a:off x="914400" y="2176272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76272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PACKET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network/parser.py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76272" y="2651760"/>
            <a:ext cx="219456" cy="109728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16" name="Rounded Rectangle 15"/>
          <p:cNvSpPr/>
          <p:nvPr/>
        </p:nvSpPr>
        <p:spPr>
          <a:xfrm>
            <a:off x="914400" y="2761488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61488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IP-MAC BASELINE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61488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config/trusted_baseline.json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176272" y="3236976"/>
            <a:ext cx="219456" cy="109728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20" name="Rounded Rectangle 19"/>
          <p:cNvSpPr/>
          <p:nvPr/>
        </p:nvSpPr>
        <p:spPr>
          <a:xfrm>
            <a:off x="914400" y="3346704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46704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DETECTION ENGINE  (7 Rules)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46704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detection/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176272" y="3822191"/>
            <a:ext cx="219456" cy="109728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24" name="Rounded Rectangle 23"/>
          <p:cNvSpPr/>
          <p:nvPr/>
        </p:nvSpPr>
        <p:spPr>
          <a:xfrm>
            <a:off x="914400" y="3931920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931920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ATTACKER IDENTIFICATION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detection_engine/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176272" y="4407408"/>
            <a:ext cx="219456" cy="10972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28" name="Rounded Rectangle 27"/>
          <p:cNvSpPr/>
          <p:nvPr/>
        </p:nvSpPr>
        <p:spPr>
          <a:xfrm>
            <a:off x="914400" y="4517136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17136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ALERT /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17136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backend/routes/alerts.py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176272" y="4992623"/>
            <a:ext cx="219456" cy="10972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32" name="Rounded Rectangle 31"/>
          <p:cNvSpPr/>
          <p:nvPr/>
        </p:nvSpPr>
        <p:spPr>
          <a:xfrm>
            <a:off x="914400" y="5102352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102352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DDoS IMPACT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0235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testing/evaluation/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176272" y="5577840"/>
            <a:ext cx="219456" cy="10972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8="http://schemas.openxmlformats.org/drawingml/2006/spreadsheetDrawing" ns8:editAs="oneCell">
        <p:nvSpPr>
          <p:cNvPr id="36" name="Rounded Rectangle 35"/>
          <p:cNvSpPr/>
          <p:nvPr/>
        </p:nvSpPr>
        <p:spPr>
          <a:xfrm>
            <a:off x="914400" y="5687568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87568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MITIGATION  (ISOLATE)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87568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prevention/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2176272" y="6163056"/>
            <a:ext cx="219456" cy="109728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9="http://schemas.openxmlformats.org/drawingml/2006/spreadsheetDrawing" ns9:editAs="oneCell">
        <p:nvSpPr>
          <p:cNvPr id="40" name="Rounded Rectangle 39"/>
          <p:cNvSpPr/>
          <p:nvPr/>
        </p:nvSpPr>
        <p:spPr>
          <a:xfrm>
            <a:off x="914400" y="6272783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6272783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DATABASE  (SQLite)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272783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database/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176272" y="6748271"/>
            <a:ext cx="219456" cy="109728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0="http://schemas.openxmlformats.org/drawingml/2006/spreadsheetDrawing" ns10:editAs="oneCell">
        <p:nvSpPr>
          <p:cNvPr id="44" name="Rounded Rectangle 43"/>
          <p:cNvSpPr/>
          <p:nvPr/>
        </p:nvSpPr>
        <p:spPr>
          <a:xfrm>
            <a:off x="914400" y="6858000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6858000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DASHBOARD  (Flask)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858000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dashboard/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DETECTION RULES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137160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1="http://schemas.openxmlformats.org/drawingml/2006/spreadsheetDrawing" ns11:editAs="oneCell">
        <p:nvSpPr>
          <p:cNvPr id="49" name="Rounded Rectangle 48"/>
          <p:cNvSpPr/>
          <p:nvPr/>
        </p:nvSpPr>
        <p:spPr>
          <a:xfrm>
            <a:off x="5029200" y="1645920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2352" y="1755648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166420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BASELINE VIOLATION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7800" y="1892808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IP-MAC vs trusted config</a:t>
            </a:r>
          </a:p>
        </p:txBody>
      </p:sp>
      <p:sp xmlns:ns12="http://schemas.openxmlformats.org/drawingml/2006/spreadsheetDrawing" ns12:editAs="oneCell">
        <p:nvSpPr>
          <p:cNvPr id="53" name="Rounded Rectangle 52"/>
          <p:cNvSpPr/>
          <p:nvPr/>
        </p:nvSpPr>
        <p:spPr>
          <a:xfrm>
            <a:off x="5029200" y="2212848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02352" y="2322576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2231136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GATEWAY SPOOFING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245973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Non-gateway MAC claims gateway IP</a:t>
            </a:r>
          </a:p>
        </p:txBody>
      </p:sp>
      <p:sp xmlns:ns13="http://schemas.openxmlformats.org/drawingml/2006/spreadsheetDrawing" ns13:editAs="oneCell">
        <p:nvSpPr>
          <p:cNvPr id="57" name="Rounded Rectangle 56"/>
          <p:cNvSpPr/>
          <p:nvPr/>
        </p:nvSpPr>
        <p:spPr>
          <a:xfrm>
            <a:off x="5029200" y="2779776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02352" y="2889504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7800" y="2798064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IP-MAC CONFLICT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3026664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Known IP → new MAC address</a:t>
            </a:r>
          </a:p>
        </p:txBody>
      </p:sp>
      <p:sp xmlns:ns14="http://schemas.openxmlformats.org/drawingml/2006/spreadsheetDrawing" ns14:editAs="oneCell">
        <p:nvSpPr>
          <p:cNvPr id="61" name="Rounded Rectangle 60"/>
          <p:cNvSpPr/>
          <p:nvPr/>
        </p:nvSpPr>
        <p:spPr>
          <a:xfrm>
            <a:off x="5029200" y="3346704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02352" y="3456432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33649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DUPLICATE 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57800" y="3593592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Multiple MACs claim same IP</a:t>
            </a:r>
          </a:p>
        </p:txBody>
      </p:sp>
      <p:sp xmlns:ns15="http://schemas.openxmlformats.org/drawingml/2006/spreadsheetDrawing" ns15:editAs="oneCell">
        <p:nvSpPr>
          <p:cNvPr id="65" name="Rounded Rectangle 64"/>
          <p:cNvSpPr/>
          <p:nvPr/>
        </p:nvSpPr>
        <p:spPr>
          <a:xfrm>
            <a:off x="5029200" y="3913632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102352" y="4023360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7800" y="39319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MAC CHANGE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4160520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Existing IP → changed MAC</a:t>
            </a:r>
          </a:p>
        </p:txBody>
      </p:sp>
      <p:sp xmlns:ns16="http://schemas.openxmlformats.org/drawingml/2006/spreadsheetDrawing" ns16:editAs="oneCell">
        <p:nvSpPr>
          <p:cNvPr id="69" name="Rounded Rectangle 68"/>
          <p:cNvSpPr/>
          <p:nvPr/>
        </p:nvSpPr>
        <p:spPr>
          <a:xfrm>
            <a:off x="5029200" y="4480560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02352" y="4590288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57800" y="449884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SUSPICIOUS REPLY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7800" y="4727448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Unsolicited gratuitous ARP</a:t>
            </a:r>
          </a:p>
        </p:txBody>
      </p:sp>
      <p:sp xmlns:ns17="http://schemas.openxmlformats.org/drawingml/2006/spreadsheetDrawing" ns17:editAs="oneCell">
        <p:nvSpPr>
          <p:cNvPr id="73" name="Rounded Rectangle 72"/>
          <p:cNvSpPr/>
          <p:nvPr/>
        </p:nvSpPr>
        <p:spPr>
          <a:xfrm>
            <a:off x="5029200" y="5047488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102352" y="5157216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57800" y="5065775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RATE THRESHOLD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7800" y="5294375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Abnormal ARP packets-per-second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ARPShield DETECTS SPOOFING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7 rule-based heuristic checks applied to every ARP packet in real-time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457200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3B3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  <a:br/>
            <a:r>
              <a:t>VIOLATION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Known IP → unexpected MAC</a:t>
            </a:r>
            <a:br/>
            <a:r>
              <a:t>vs trusted_baseline.json</a:t>
            </a:r>
          </a:p>
        </p:txBody>
      </p:sp>
      <p:sp xmlns:ns1="http://schemas.openxmlformats.org/drawingml/2006/spreadsheetDrawing" ns1:editAs="oneCell">
        <p:nvSpPr>
          <p:cNvPr id="9" name="Rounded Rectangle 8"/>
          <p:cNvSpPr/>
          <p:nvPr/>
        </p:nvSpPr>
        <p:spPr>
          <a:xfrm>
            <a:off x="2103120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3B3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GATEWAY</a:t>
            </a:r>
            <a:br/>
            <a:r>
              <a:t>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Non-gateway MAC claims</a:t>
            </a:r>
            <a:br/>
            <a:r>
              <a:t>gateway IP in ARP reply</a:t>
            </a:r>
          </a:p>
        </p:txBody>
      </p:sp>
      <p:sp xmlns:ns2="http://schemas.openxmlformats.org/drawingml/2006/spreadsheetDrawing" ns2:editAs="oneCell">
        <p:nvSpPr>
          <p:cNvPr id="13" name="Rounded Rectangle 12"/>
          <p:cNvSpPr/>
          <p:nvPr/>
        </p:nvSpPr>
        <p:spPr>
          <a:xfrm>
            <a:off x="3749039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IP-MAC</a:t>
            </a:r>
            <a:br/>
            <a:r>
              <a:t>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Previously seen IP now</a:t>
            </a:r>
            <a:br/>
            <a:r>
              <a:t>associated with new MAC</a:t>
            </a:r>
          </a:p>
        </p:txBody>
      </p:sp>
      <p:sp xmlns:ns3="http://schemas.openxmlformats.org/drawingml/2006/spreadsheetDrawing" ns3:editAs="oneCell">
        <p:nvSpPr>
          <p:cNvPr id="17" name="Rounded Rectangle 16"/>
          <p:cNvSpPr/>
          <p:nvPr/>
        </p:nvSpPr>
        <p:spPr>
          <a:xfrm>
            <a:off x="5394959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79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DUPLICATE</a:t>
            </a:r>
            <a:br/>
            <a:r>
              <a:t>IP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Multiple distinct MACs</a:t>
            </a:r>
            <a:br/>
            <a:r>
              <a:t>claim the same IP address</a:t>
            </a:r>
          </a:p>
        </p:txBody>
      </p:sp>
      <p:sp xmlns:ns4="http://schemas.openxmlformats.org/drawingml/2006/spreadsheetDrawing" ns4:editAs="oneCell">
        <p:nvSpPr>
          <p:cNvPr id="21" name="Rounded Rectangle 20"/>
          <p:cNvSpPr/>
          <p:nvPr/>
        </p:nvSpPr>
        <p:spPr>
          <a:xfrm>
            <a:off x="1348739" y="320040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4460" y="327355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180" y="352044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MAC</a:t>
            </a:r>
            <a:br/>
            <a: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180" y="402336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Established IP-MAC pair</a:t>
            </a:r>
            <a:br/>
            <a:r>
              <a:t>changes unexpectedly</a:t>
            </a:r>
          </a:p>
        </p:txBody>
      </p:sp>
      <p:sp xmlns:ns5="http://schemas.openxmlformats.org/drawingml/2006/spreadsheetDrawing" ns5:editAs="oneCell">
        <p:nvSpPr>
          <p:cNvPr id="25" name="Rounded Rectangle 24"/>
          <p:cNvSpPr/>
          <p:nvPr/>
        </p:nvSpPr>
        <p:spPr>
          <a:xfrm>
            <a:off x="2994659" y="320040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0379" y="327355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7B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6099" y="352044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SUSPICIOUS</a:t>
            </a:r>
            <a:br/>
            <a:r>
              <a:t>ARP REPLY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6099" y="402336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Unsolicited gratuitous ARP</a:t>
            </a:r>
            <a:br/>
            <a:r>
              <a:t>without preceding request</a:t>
            </a:r>
          </a:p>
        </p:txBody>
      </p:sp>
      <p:sp xmlns:ns6="http://schemas.openxmlformats.org/drawingml/2006/spreadsheetDrawing" ns6:editAs="oneCell">
        <p:nvSpPr>
          <p:cNvPr id="29" name="Rounded Rectangle 28"/>
          <p:cNvSpPr/>
          <p:nvPr/>
        </p:nvSpPr>
        <p:spPr>
          <a:xfrm>
            <a:off x="4640579" y="320040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6299" y="327355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3B3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2019" y="352044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HIGH ARP</a:t>
            </a:r>
            <a:br/>
            <a:r>
              <a:t>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2019" y="402336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Abnormal packets-per-second</a:t>
            </a:r>
            <a:br/>
            <a:r>
              <a:t>DDoS/flood precursor</a:t>
            </a:r>
          </a:p>
        </p:txBody>
      </p:sp>
      <p:sp xmlns:ns7="http://schemas.openxmlformats.org/drawingml/2006/spreadsheetDrawing" ns7:editAs="oneCell">
        <p:nvSpPr>
          <p:cNvPr id="33" name="Rounded Rectangle 32"/>
          <p:cNvSpPr/>
          <p:nvPr/>
        </p:nvSpPr>
        <p:spPr>
          <a:xfrm>
            <a:off x="7132320" y="1463040"/>
            <a:ext cx="4572000" cy="32461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1554480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PACKET → DETECTION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920240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ARP Packet Received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167128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414016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Extract: src_ip, src_mac, dst_ip, dst_mac, 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660904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907792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Update ARP Table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154680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401568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7BFF"/>
                </a:solidFill>
                <a:latin typeface="Calibri"/>
              </a:defRPr>
            </a:pPr>
            <a:r>
              <a:t>Run All 7 Rules Against Packet +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648456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895344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Collect Alerts (rule, severity, reason)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142232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389120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Return Alert List to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All detection rules are defined in detection/arp-detection/detection_engine/rules/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FROM PACKET TO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188720"/>
            <a:ext cx="4114800" cy="4114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7490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ARP REPLY PACKET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Sender IP: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3B3B"/>
                </a:solidFill>
                <a:latin typeface="Consolas"/>
              </a:defRPr>
            </a:pPr>
            <a:r>
              <a:t>192.168.1.1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Sender MAC: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488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3B3B"/>
                </a:solidFill>
                <a:latin typeface="Consolas"/>
              </a:defRPr>
            </a:pPr>
            <a:r>
              <a:t>de:ad:be:ef:00:01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Target IP: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603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onsolas"/>
              </a:defRPr>
            </a:pPr>
            <a:r>
              <a:t>192.168.1.10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Target MAC: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718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onsolas"/>
              </a:defRPr>
            </a:pPr>
            <a:r>
              <a:t>00:11:22:33:44:10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Operation: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832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onsolas"/>
              </a:defRPr>
            </a:pPr>
            <a:r>
              <a:t>REPLY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Timestamp: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947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B748C"/>
                </a:solidFill>
                <a:latin typeface="Consolas"/>
              </a:defRPr>
            </a:pPr>
            <a:r>
              <a:t>2026-10-07T12:08:14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3749039" cy="12700"/>
          </a:xfrm>
          <a:prstGeom prst="rect">
            <a:avLst/>
          </a:prstGeom>
          <a:solidFill>
            <a:srgbClr val="1E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TRUSTED BASELINE: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E676"/>
                </a:solidFill>
                <a:latin typeface="Consolas"/>
              </a:defRPr>
            </a:pPr>
            <a:r>
              <a:t>192.168.1.1 → aa:bb:cc:dd:ee:01  (gateway)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3B3B"/>
                </a:solidFill>
                <a:latin typeface="Consolas"/>
              </a:defRPr>
            </a:pPr>
            <a:r>
              <a:t>❌ MISMATCH: de:ad:be:ef:00:01 ≠ aa:bb:cc:dd:ee:01</a:t>
            </a:r>
          </a:p>
        </p:txBody>
      </p:sp>
      <p:sp xmlns:ns1="http://schemas.openxmlformats.org/drawingml/2006/spreadsheetDrawing" ns1:editAs="oneCell">
        <p:nvSpPr>
          <p:cNvPr id="22" name="Rounded Rectangle 21"/>
          <p:cNvSpPr/>
          <p:nvPr/>
        </p:nvSpPr>
        <p:spPr>
          <a:xfrm>
            <a:off x="5029200" y="118872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66360" y="1298448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129844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123444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EXTRACT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50876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Parse sender/target IP, MAC, operation, timestamp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239512" y="1783080"/>
            <a:ext cx="219456" cy="13716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28" name="Rounded Rectangle 27"/>
          <p:cNvSpPr/>
          <p:nvPr/>
        </p:nvSpPr>
        <p:spPr>
          <a:xfrm>
            <a:off x="5029200" y="196596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66360" y="2075688"/>
            <a:ext cx="365760" cy="3657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207568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011679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BFF"/>
                </a:solidFill>
                <a:latin typeface="Calibri"/>
              </a:defRPr>
            </a:pPr>
            <a:r>
              <a:t>UPDATE ARP 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28600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Record latest IP-MAC observation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239512" y="2560320"/>
            <a:ext cx="219456" cy="137160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34" name="Rounded Rectangle 33"/>
          <p:cNvSpPr/>
          <p:nvPr/>
        </p:nvSpPr>
        <p:spPr>
          <a:xfrm>
            <a:off x="5029200" y="274320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66360" y="2852928"/>
            <a:ext cx="365760" cy="3657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285292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278892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BFF"/>
                </a:solidFill>
                <a:latin typeface="Calibri"/>
              </a:defRPr>
            </a:pPr>
            <a:r>
              <a:t>COMPARE WITH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06324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Check against config/trusted_baseline.json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239512" y="3337560"/>
            <a:ext cx="219456" cy="137160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40" name="Rounded Rectangle 39"/>
          <p:cNvSpPr/>
          <p:nvPr/>
        </p:nvSpPr>
        <p:spPr>
          <a:xfrm>
            <a:off x="5029200" y="3520439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66360" y="363016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36301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566159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VIOLATION DETECTED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840479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gateway_rule.check → Non-gateway MAC claimed gateway IP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239512" y="4114800"/>
            <a:ext cx="219456" cy="1371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46" name="Rounded Rectangle 45"/>
          <p:cNvSpPr/>
          <p:nvPr/>
        </p:nvSpPr>
        <p:spPr>
          <a:xfrm>
            <a:off x="5029200" y="429768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66360" y="440740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66360" y="440740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434340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CLASSIFY 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61772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Critical — Gateway impersonation attempt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5239512" y="4892040"/>
            <a:ext cx="219456" cy="1371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52" name="Rounded Rectangle 51"/>
          <p:cNvSpPr/>
          <p:nvPr/>
        </p:nvSpPr>
        <p:spPr>
          <a:xfrm>
            <a:off x="5029200" y="507492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66360" y="5184648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6360" y="518464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512064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GENERATE ALERT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5394959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Event logged with rule, severity, reason, timestamp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ATTACKER 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548640" y="1188720"/>
            <a:ext cx="347472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✓  LEGITIMATE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089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Gateway IP: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00E676"/>
                </a:solidFill>
                <a:latin typeface="Consolas"/>
              </a:defRPr>
            </a:pPr>
            <a:r>
              <a:t>192.168.1.1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Gateway MAC: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00E676"/>
                </a:solidFill>
                <a:latin typeface="Consolas"/>
              </a:defRPr>
            </a:pPr>
            <a:r>
              <a:t>aa:bb:cc:dd:ee:01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2011680"/>
            <a:ext cx="914400" cy="91440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9144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 xmlns:ns1="http://schemas.openxmlformats.org/drawingml/2006/spreadsheetDrawing" ns1:editAs="oneCell">
        <p:nvSpPr>
          <p:cNvPr id="9" name="Rounded Rectangle 8"/>
          <p:cNvSpPr/>
          <p:nvPr/>
        </p:nvSpPr>
        <p:spPr>
          <a:xfrm>
            <a:off x="5486400" y="1188720"/>
            <a:ext cx="3474720" cy="2560320"/>
          </a:xfrm>
          <a:prstGeom prst="roundRect">
            <a:avLst/>
          </a:prstGeom>
          <a:solidFill>
            <a:srgbClr val="2A1010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2801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3B3B"/>
                </a:solidFill>
                <a:latin typeface="Calibri"/>
              </a:defRPr>
            </a:pPr>
            <a:r>
              <a:t>⚠  SUSPICIOUS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45920"/>
            <a:ext cx="31089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Gateway IP: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FF3B3B"/>
                </a:solidFill>
                <a:latin typeface="Consolas"/>
              </a:defRPr>
            </a:pPr>
            <a:r>
              <a:t>192.168.1.1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Attacker MAC: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FF3B3B"/>
                </a:solidFill>
                <a:latin typeface="Consolas"/>
              </a:defRPr>
            </a:pPr>
            <a:r>
              <a:t>d6:70:e5:8e:03:51</a:t>
            </a:r>
          </a:p>
        </p:txBody>
      </p:sp>
      <p:sp xmlns:ns2="http://schemas.openxmlformats.org/drawingml/2006/spreadsheetDrawing" ns2:editAs="oneCell">
        <p:nvSpPr>
          <p:cNvPr id="12" name="Rounded Rectangle 11"/>
          <p:cNvSpPr/>
          <p:nvPr/>
        </p:nvSpPr>
        <p:spPr>
          <a:xfrm>
            <a:off x="548640" y="4114800"/>
            <a:ext cx="8412480" cy="21945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3B3B"/>
                </a:solidFill>
                <a:latin typeface="Calibri"/>
              </a:defRPr>
            </a:pPr>
            <a:r>
              <a:t>DETECTION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Rule: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gateway_impersonation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Severity: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292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3B3B"/>
                </a:solidFill>
                <a:latin typeface="Consolas"/>
              </a:defRPr>
            </a:pPr>
            <a: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Reason: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864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Non-gateway MAC claimed gateway IP in ARP 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45720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Attacker IP: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720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192.168.1.1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5029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Attacker MAC: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292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d6:70:e5:8e:03:51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4864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3B3B"/>
                </a:solidFill>
                <a:latin typeface="Consolas"/>
              </a:defRPr>
            </a:pPr>
            <a:r>
              <a:t>ISOLATE_DEVICE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DDoS / DoS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NORMAL</a:t>
            </a:r>
            <a:br/>
            <a:r>
              <a:t>TRAFFIC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1399032"/>
            <a:ext cx="27432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7" name="Rounded Rectangle 6"/>
          <p:cNvSpPr/>
          <p:nvPr/>
        </p:nvSpPr>
        <p:spPr>
          <a:xfrm>
            <a:off x="224028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ABNORMAL</a:t>
            </a:r>
            <a:br/>
            <a:r>
              <a:t>ARP ACTIVITY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3320" y="1399032"/>
            <a:ext cx="274320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0" name="Rounded Rectangle 9"/>
          <p:cNvSpPr/>
          <p:nvPr/>
        </p:nvSpPr>
        <p:spPr>
          <a:xfrm>
            <a:off x="402336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NETWORK</a:t>
            </a:r>
            <a:br/>
            <a:r>
              <a:t>DISRUPTION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1399032"/>
            <a:ext cx="274320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13" name="Rounded Rectangle 12"/>
          <p:cNvSpPr/>
          <p:nvPr/>
        </p:nvSpPr>
        <p:spPr>
          <a:xfrm>
            <a:off x="580644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7B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69480" y="1399032"/>
            <a:ext cx="27432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16" name="Rounded Rectangle 15"/>
          <p:cNvSpPr/>
          <p:nvPr/>
        </p:nvSpPr>
        <p:spPr>
          <a:xfrm>
            <a:off x="758952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52560" y="1399032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19" name="Rounded Rectangle 18"/>
          <p:cNvSpPr/>
          <p:nvPr/>
        </p:nvSpPr>
        <p:spPr>
          <a:xfrm>
            <a:off x="937260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RECOVERY</a:t>
            </a:r>
          </a:p>
        </p:txBody>
      </p:sp>
      <p:sp xmlns:ns6="http://schemas.openxmlformats.org/drawingml/2006/spreadsheetDrawing" ns6:editAs="oneCell">
        <p:nvSpPr>
          <p:cNvPr id="21" name="Rounded Rectangle 20"/>
          <p:cNvSpPr/>
          <p:nvPr/>
        </p:nvSpPr>
        <p:spPr>
          <a:xfrm>
            <a:off x="45720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0.48 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NORMAL</a:t>
            </a:r>
            <a:br/>
            <a:r>
              <a:t>ARP RATE</a:t>
            </a:r>
          </a:p>
        </p:txBody>
      </p:sp>
      <p:sp xmlns:ns7="http://schemas.openxmlformats.org/drawingml/2006/spreadsheetDrawing" ns7:editAs="oneCell">
        <p:nvSpPr>
          <p:cNvPr id="24" name="Rounded Rectangle 23"/>
          <p:cNvSpPr/>
          <p:nvPr/>
        </p:nvSpPr>
        <p:spPr>
          <a:xfrm>
            <a:off x="265176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3B3B"/>
                </a:solidFill>
                <a:latin typeface="Calibri"/>
              </a:defRPr>
            </a:pPr>
            <a:r>
              <a:t>9.24 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ATTACK</a:t>
            </a:r>
            <a:br/>
            <a:r>
              <a:t>ARP RATE</a:t>
            </a:r>
          </a:p>
        </p:txBody>
      </p:sp>
      <p:sp xmlns:ns8="http://schemas.openxmlformats.org/drawingml/2006/spreadsheetDrawing" ns8:editAs="oneCell">
        <p:nvSpPr>
          <p:cNvPr id="27" name="Rounded Rectangle 26"/>
          <p:cNvSpPr/>
          <p:nvPr/>
        </p:nvSpPr>
        <p:spPr>
          <a:xfrm>
            <a:off x="484632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3B3B"/>
                </a:solidFill>
                <a:latin typeface="Calibri"/>
              </a:defRPr>
            </a:pPr>
            <a:r>
              <a:t>1825%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RATE</a:t>
            </a:r>
            <a:br/>
            <a:r>
              <a:t>INCREASE</a:t>
            </a:r>
          </a:p>
        </p:txBody>
      </p:sp>
      <p:sp xmlns:ns9="http://schemas.openxmlformats.org/drawingml/2006/spreadsheetDrawing" ns9:editAs="oneCell">
        <p:nvSpPr>
          <p:cNvPr id="30" name="Rounded Rectangle 29"/>
          <p:cNvSpPr/>
          <p:nvPr/>
        </p:nvSpPr>
        <p:spPr>
          <a:xfrm>
            <a:off x="704088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B8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AFFECTED</a:t>
            </a:r>
            <a:br/>
            <a:r>
              <a:t>HOSTS</a:t>
            </a:r>
          </a:p>
        </p:txBody>
      </p:sp>
      <p:sp xmlns:ns10="http://schemas.openxmlformats.org/drawingml/2006/spreadsheetDrawing" ns10:editAs="oneCell">
        <p:nvSpPr>
          <p:cNvPr id="33" name="Rounded Rectangle 32"/>
          <p:cNvSpPr/>
          <p:nvPr/>
        </p:nvSpPr>
        <p:spPr>
          <a:xfrm>
            <a:off x="923544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B800"/>
                </a:solidFill>
                <a:latin typeface="Calibri"/>
              </a:defRPr>
            </a:pPr>
            <a:r>
              <a:t>24.67s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ATTACK</a:t>
            </a:r>
            <a:br/>
            <a:r>
              <a:t>DURATION</a:t>
            </a:r>
          </a:p>
        </p:txBody>
      </p:sp>
      <p:sp xmlns:ns11="http://schemas.openxmlformats.org/drawingml/2006/spreadsheetDrawing" ns11:editAs="oneCell">
        <p:nvSpPr>
          <p:cNvPr id="36" name="Rounded Rectangle 35"/>
          <p:cNvSpPr/>
          <p:nvPr/>
        </p:nvSpPr>
        <p:spPr>
          <a:xfrm>
            <a:off x="457200" y="3749039"/>
            <a:ext cx="502920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40480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B748C"/>
                </a:solidFill>
                <a:latin typeface="Calibri"/>
              </a:defRPr>
            </a:pPr>
            <a:r>
              <a:t>PRE-MITIGATION DISRUPTION INDEX</a:t>
            </a:r>
          </a:p>
        </p:txBody>
      </p:sp>
      <p:sp xmlns:ns12="http://schemas.openxmlformats.org/drawingml/2006/spreadsheetDrawing" ns12:editAs="oneCell">
        <p:nvSpPr>
          <p:cNvPr id="38" name="Rounded Rectangle 37"/>
          <p:cNvSpPr/>
          <p:nvPr/>
        </p:nvSpPr>
        <p:spPr>
          <a:xfrm>
            <a:off x="640080" y="4206240"/>
            <a:ext cx="4663440" cy="36576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3="http://schemas.openxmlformats.org/drawingml/2006/spreadsheetDrawing" ns13:editAs="oneCell">
        <p:nvSpPr>
          <p:cNvPr id="39" name="Rounded Rectangle 38"/>
          <p:cNvSpPr/>
          <p:nvPr/>
        </p:nvSpPr>
        <p:spPr>
          <a:xfrm>
            <a:off x="640080" y="4206240"/>
            <a:ext cx="2670752" cy="365760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06240"/>
            <a:ext cx="267075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0.5727</a:t>
            </a:r>
          </a:p>
        </p:txBody>
      </p:sp>
      <p:sp xmlns:ns14="http://schemas.openxmlformats.org/drawingml/2006/spreadsheetDrawing" ns14:editAs="oneCell">
        <p:nvSpPr>
          <p:cNvPr id="41" name="Rounded Rectangle 40"/>
          <p:cNvSpPr/>
          <p:nvPr/>
        </p:nvSpPr>
        <p:spPr>
          <a:xfrm>
            <a:off x="5760720" y="3749039"/>
            <a:ext cx="594360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840480"/>
            <a:ext cx="5577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TRAFFIC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160520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Total Packets: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160520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60 normal  /  228 abnormal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361688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Request:Reply: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361688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1:1 normal  /  3.38:1 abnormal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562856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IP-MAC Conflicts: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562856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0 normal  /  4 abnormal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764024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Unique Source MACs: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764024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7 normal  /  15 abnormal</a:t>
            </a:r>
          </a:p>
        </p:txBody>
      </p:sp>
      <p:sp xmlns:ns15="http://schemas.openxmlformats.org/drawingml/2006/spreadsheetDrawing" ns15:editAs="oneCell">
        <p:nvSpPr>
          <p:cNvPr id="51" name="Rounded Rectangle 50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1A1810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394960"/>
            <a:ext cx="10881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⚠  IMPORTANT DISTINCTION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ARP spoofing ≠ DDoS.  ARP spoofing can contribute to network disruption and DoS conditions. This module evaluates the network-disruption impact of ARP spoofing activity, not DDoS attribution.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PREVENTION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SOC-Style Incident Response Pipeline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3383280" y="1371600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56432" y="1444752"/>
            <a:ext cx="329184" cy="329184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6432" y="144475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89888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89888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Rule engine identifies ARP anomaly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511296" y="1847088"/>
            <a:ext cx="219456" cy="91440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11" name="Rounded Rectangle 10"/>
          <p:cNvSpPr/>
          <p:nvPr/>
        </p:nvSpPr>
        <p:spPr>
          <a:xfrm>
            <a:off x="3383280" y="1938528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6432" y="2011680"/>
            <a:ext cx="329184" cy="32918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011680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956816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956816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Event logged with severity + reason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511296" y="2414016"/>
            <a:ext cx="219456" cy="9144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7" name="Rounded Rectangle 16"/>
          <p:cNvSpPr/>
          <p:nvPr/>
        </p:nvSpPr>
        <p:spPr>
          <a:xfrm>
            <a:off x="3383280" y="2505456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56432" y="2578608"/>
            <a:ext cx="329184" cy="32918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2578608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523744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523744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Combine rule score → LOW / MEDIUM / HIGH / CRITICAL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511296" y="2980944"/>
            <a:ext cx="219456" cy="9144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23" name="Rounded Rectangle 22"/>
          <p:cNvSpPr/>
          <p:nvPr/>
        </p:nvSpPr>
        <p:spPr>
          <a:xfrm>
            <a:off x="3383280" y="3072384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56432" y="3145536"/>
            <a:ext cx="329184" cy="329184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3145536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090672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RESPONSE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090672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Generate ISOLATE_DEVICE request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3511296" y="3547872"/>
            <a:ext cx="219456" cy="9144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29" name="Rounded Rectangle 28"/>
          <p:cNvSpPr/>
          <p:nvPr/>
        </p:nvSpPr>
        <p:spPr>
          <a:xfrm>
            <a:off x="3383280" y="3639312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56432" y="3712463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3712463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657600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ADMIN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657600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Administrator approves the response action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511296" y="4114800"/>
            <a:ext cx="219456" cy="91440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35" name="Rounded Rectangle 34"/>
          <p:cNvSpPr/>
          <p:nvPr/>
        </p:nvSpPr>
        <p:spPr>
          <a:xfrm>
            <a:off x="3383280" y="4206240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56432" y="4279392"/>
            <a:ext cx="329184" cy="329184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427939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224527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EXECUTE MITIGATION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224527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Block attacker MAC/IP via OS firewall rules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3511296" y="4681727"/>
            <a:ext cx="219456" cy="9144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41" name="Rounded Rectangle 40"/>
          <p:cNvSpPr/>
          <p:nvPr/>
        </p:nvSpPr>
        <p:spPr>
          <a:xfrm>
            <a:off x="3383280" y="4773168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56432" y="4846320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6432" y="4846320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791455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791455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Continue monitoring for further suspicious activity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511296" y="5248656"/>
            <a:ext cx="219456" cy="9144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47" name="Rounded Rectangle 46"/>
          <p:cNvSpPr/>
          <p:nvPr/>
        </p:nvSpPr>
        <p:spPr>
          <a:xfrm>
            <a:off x="3383280" y="5340096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56432" y="5413248"/>
            <a:ext cx="329184" cy="329184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6432" y="5413248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5358383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5358383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Broadcast corrective Gratuitous ARP to restore mappings</a:t>
            </a:r>
          </a:p>
        </p:txBody>
      </p:sp>
      <p:sp xmlns:ns8="http://schemas.openxmlformats.org/drawingml/2006/spreadsheetDrawing" ns8:editAs="oneCell">
        <p:nvSpPr>
          <p:cNvPr id="52" name="Rounded Rectangle 51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2A1010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PRIMARY 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1828800"/>
            <a:ext cx="2377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3B3B"/>
                </a:solidFill>
                <a:latin typeface="Consolas"/>
              </a:defRPr>
            </a:pPr>
            <a:r>
              <a:t>ISOLATE</a:t>
            </a:r>
            <a:br/>
            <a:r>
              <a:t>_DEVICE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2926080"/>
            <a:ext cx="2377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Block attacking MAC/IP</a:t>
            </a:r>
            <a:br/>
            <a:r>
              <a:t>via OS-level firewall rules</a:t>
            </a:r>
            <a:br/>
            <a:r>
              <a:t>(iptables / Windows Firewall)</a:t>
            </a:r>
          </a:p>
        </p:txBody>
      </p:sp>
      <p:sp xmlns:ns9="http://schemas.openxmlformats.org/drawingml/2006/spreadsheetDrawing" ns9:editAs="oneCell">
        <p:nvSpPr>
          <p:cNvPr id="56" name="Rounded Rectangle 55"/>
          <p:cNvSpPr/>
          <p:nvPr/>
        </p:nvSpPr>
        <p:spPr>
          <a:xfrm>
            <a:off x="457200" y="4389120"/>
            <a:ext cx="2560320" cy="15544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48056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0060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0–24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4800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05663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25–49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5056632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31266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50–74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31266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568696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75–100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568696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737360" cy="3657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Primary language for</a:t>
            </a:r>
            <a:br/>
            <a:r>
              <a:t>all modules</a:t>
            </a:r>
          </a:p>
        </p:txBody>
      </p:sp>
      <p:sp xmlns:ns1="http://schemas.openxmlformats.org/drawingml/2006/spreadsheetDrawing" ns1:editAs="oneCell">
        <p:nvSpPr>
          <p:cNvPr id="9" name="Rounded Rectangle 8"/>
          <p:cNvSpPr/>
          <p:nvPr/>
        </p:nvSpPr>
        <p:spPr>
          <a:xfrm>
            <a:off x="233172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280160"/>
            <a:ext cx="1737360" cy="36576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Real-time ARP packet</a:t>
            </a:r>
            <a:br/>
            <a:r>
              <a:t>capture &amp; parsing</a:t>
            </a:r>
          </a:p>
        </p:txBody>
      </p:sp>
      <p:sp xmlns:ns2="http://schemas.openxmlformats.org/drawingml/2006/spreadsheetDrawing" ns2:editAs="oneCell">
        <p:nvSpPr>
          <p:cNvPr id="14" name="Rounded Rectangle 13"/>
          <p:cNvSpPr/>
          <p:nvPr/>
        </p:nvSpPr>
        <p:spPr>
          <a:xfrm>
            <a:off x="420624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1737360" cy="36576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Flask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RESTful API server</a:t>
            </a:r>
            <a:br/>
            <a:r>
              <a:t>&amp; route handling</a:t>
            </a:r>
          </a:p>
        </p:txBody>
      </p:sp>
      <p:sp xmlns:ns3="http://schemas.openxmlformats.org/drawingml/2006/spreadsheetDrawing" ns3:editAs="oneCell">
        <p:nvSpPr>
          <p:cNvPr id="19" name="Rounded Rectangle 18"/>
          <p:cNvSpPr/>
          <p:nvPr/>
        </p:nvSpPr>
        <p:spPr>
          <a:xfrm>
            <a:off x="6080759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59" y="1280160"/>
            <a:ext cx="1737360" cy="3657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Persistent storage via</a:t>
            </a:r>
            <a:br/>
            <a:r>
              <a:t>Flask-SQLAlchemy</a:t>
            </a:r>
          </a:p>
        </p:txBody>
      </p:sp>
      <p:sp xmlns:ns4="http://schemas.openxmlformats.org/drawingml/2006/spreadsheetDrawing" ns4:editAs="oneCell">
        <p:nvSpPr>
          <p:cNvPr id="24" name="Rounded Rectangle 23"/>
          <p:cNvSpPr/>
          <p:nvPr/>
        </p:nvSpPr>
        <p:spPr>
          <a:xfrm>
            <a:off x="7955279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280160"/>
            <a:ext cx="1737360" cy="3657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Jinja / HTML</a:t>
            </a:r>
            <a:br/>
            <a:r>
              <a:t>CSS / 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Dashboard templates</a:t>
            </a:r>
            <a:br/>
            <a:r>
              <a:t>&amp; live UI</a:t>
            </a:r>
          </a:p>
        </p:txBody>
      </p:sp>
      <p:sp xmlns:ns5="http://schemas.openxmlformats.org/drawingml/2006/spreadsheetDrawing" ns5:editAs="oneCell">
        <p:nvSpPr>
          <p:cNvPr id="29" name="Rounded Rectangle 28"/>
          <p:cNvSpPr/>
          <p:nvPr/>
        </p:nvSpPr>
        <p:spPr>
          <a:xfrm>
            <a:off x="982980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9800" y="1280160"/>
            <a:ext cx="1737360" cy="365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pytest</a:t>
            </a:r>
            <a:br/>
            <a:r>
              <a:t>unittest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Automated test suite</a:t>
            </a:r>
            <a:br/>
            <a:r>
              <a:t>&amp;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6 controlled scenarios  ·  288 synthetic packets  ·  Automated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PACKETS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7160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716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10607040" cy="127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0607040" cy="594360"/>
          </a:xfrm>
          <a:prstGeom prst="rect">
            <a:avLst/>
          </a:prstGeom>
          <a:solidFill>
            <a:srgbClr val="121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NORMAL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74519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60 pkts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874519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No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74519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874519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B800"/>
                </a:solidFill>
                <a:latin typeface="Calibri"/>
              </a:defRPr>
            </a:pPr>
            <a:r>
              <a:t>FAIL (FP)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874519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19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Baseline mismatch with test fixture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603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IP-MAC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5603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35 pkts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5603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5603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5603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5603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603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Known IP → unexpected MAC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0400"/>
            <a:ext cx="10607040" cy="594360"/>
          </a:xfrm>
          <a:prstGeom prst="rect">
            <a:avLst/>
          </a:prstGeom>
          <a:solidFill>
            <a:srgbClr val="121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461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GATEWAY SPOOFING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2461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25 pkts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2461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2461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461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2461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461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Non-gateway MAC claimed gateway 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319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DUPLICATE 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9319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11 pkts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9319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9319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9319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9319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Multiple MACs claim same 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10607040" cy="594360"/>
          </a:xfrm>
          <a:prstGeom prst="rect">
            <a:avLst/>
          </a:prstGeom>
          <a:solidFill>
            <a:srgbClr val="121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6177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SUSPICIOUS REPLIES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6177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27 pkts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6177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6177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46177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46177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6177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Unsolicited gratuitous ARP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03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ARP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53035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130 pkts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53035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53035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3035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53035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3035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Abnormal ARP flood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B800"/>
                </a:solidFill>
                <a:latin typeface="Calibri"/>
              </a:defRPr>
            </a:pPr>
            <a:r>
              <a:t>⚠  The Normal Traffic scenario FAIL is due to the test fixture using MAC addresses not present in the trusted baseline configuration, producing expected false positives.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E67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DETECTION RATE</a:t>
            </a:r>
            <a:br/>
            <a:r>
              <a:t>(RECALL)</a:t>
            </a:r>
          </a:p>
        </p:txBody>
      </p:sp>
      <p:sp xmlns:ns1="http://schemas.openxmlformats.org/drawingml/2006/spreadsheetDrawing" ns1:editAs="oneCell">
        <p:nvSpPr>
          <p:cNvPr id="7" name="Rounded Rectangle 6"/>
          <p:cNvSpPr/>
          <p:nvPr/>
        </p:nvSpPr>
        <p:spPr>
          <a:xfrm>
            <a:off x="3246120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D4FF"/>
                </a:solidFill>
                <a:latin typeface="Calibri"/>
              </a:defRPr>
            </a:pPr>
            <a:r>
              <a:t>83.33%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PRECISION</a:t>
            </a:r>
          </a:p>
        </p:txBody>
      </p:sp>
      <p:sp xmlns:ns2="http://schemas.openxmlformats.org/drawingml/2006/spreadsheetDrawing" ns2:editAs="oneCell">
        <p:nvSpPr>
          <p:cNvPr id="10" name="Rounded Rectangle 9"/>
          <p:cNvSpPr/>
          <p:nvPr/>
        </p:nvSpPr>
        <p:spPr>
          <a:xfrm>
            <a:off x="6035040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D4FF"/>
                </a:solidFill>
                <a:latin typeface="Calibri"/>
              </a:defRPr>
            </a:pPr>
            <a:r>
              <a:t>90.91%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F1 SCORE</a:t>
            </a:r>
          </a:p>
        </p:txBody>
      </p:sp>
      <p:sp xmlns:ns3="http://schemas.openxmlformats.org/drawingml/2006/spreadsheetDrawing" ns3:editAs="oneCell">
        <p:nvSpPr>
          <p:cNvPr id="13" name="Rounded Rectangle 12"/>
          <p:cNvSpPr/>
          <p:nvPr/>
        </p:nvSpPr>
        <p:spPr>
          <a:xfrm>
            <a:off x="8823959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59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7BFF"/>
                </a:solidFill>
                <a:latin typeface="Calibri"/>
              </a:defRPr>
            </a:pPr>
            <a:r>
              <a:t>1.96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AVG DETECTION</a:t>
            </a:r>
            <a:br/>
            <a:r>
              <a:t>LATENCY</a:t>
            </a:r>
          </a:p>
        </p:txBody>
      </p:sp>
      <p:sp xmlns:ns4="http://schemas.openxmlformats.org/drawingml/2006/spreadsheetDrawing" ns4:editAs="oneCell">
        <p:nvSpPr>
          <p:cNvPr id="16" name="Rounded Rectangle 15"/>
          <p:cNvSpPr/>
          <p:nvPr/>
        </p:nvSpPr>
        <p:spPr>
          <a:xfrm>
            <a:off x="457200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83.33%</a:t>
            </a:r>
          </a:p>
        </p:txBody>
      </p:sp>
      <p:sp xmlns:ns5="http://schemas.openxmlformats.org/drawingml/2006/spreadsheetDrawing" ns5:editAs="oneCell">
        <p:nvSpPr>
          <p:cNvPr id="19" name="Rounded Rectangle 18"/>
          <p:cNvSpPr/>
          <p:nvPr/>
        </p:nvSpPr>
        <p:spPr>
          <a:xfrm>
            <a:off x="2029968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9968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FNR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0.00%</a:t>
            </a:r>
          </a:p>
        </p:txBody>
      </p:sp>
      <p:sp xmlns:ns6="http://schemas.openxmlformats.org/drawingml/2006/spreadsheetDrawing" ns6:editAs="oneCell">
        <p:nvSpPr>
          <p:cNvPr id="22" name="Rounded Rectangle 21"/>
          <p:cNvSpPr/>
          <p:nvPr/>
        </p:nvSpPr>
        <p:spPr>
          <a:xfrm>
            <a:off x="3602736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100.00%</a:t>
            </a:r>
          </a:p>
        </p:txBody>
      </p:sp>
      <p:sp xmlns:ns7="http://schemas.openxmlformats.org/drawingml/2006/spreadsheetDrawing" ns7:editAs="oneCell">
        <p:nvSpPr>
          <p:cNvPr id="25" name="Rounded Rectangle 24"/>
          <p:cNvSpPr/>
          <p:nvPr/>
        </p:nvSpPr>
        <p:spPr>
          <a:xfrm>
            <a:off x="5175504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5</a:t>
            </a:r>
          </a:p>
        </p:txBody>
      </p:sp>
      <p:sp xmlns:ns8="http://schemas.openxmlformats.org/drawingml/2006/spreadsheetDrawing" ns8:editAs="oneCell">
        <p:nvSpPr>
          <p:cNvPr id="28" name="Rounded Rectangle 27"/>
          <p:cNvSpPr/>
          <p:nvPr/>
        </p:nvSpPr>
        <p:spPr>
          <a:xfrm>
            <a:off x="6748272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TN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6B748C"/>
                </a:solidFill>
                <a:latin typeface="Calibri"/>
              </a:defRPr>
            </a:pPr>
            <a:r>
              <a:t>0</a:t>
            </a:r>
          </a:p>
        </p:txBody>
      </p:sp>
      <p:sp xmlns:ns9="http://schemas.openxmlformats.org/drawingml/2006/spreadsheetDrawing" ns9:editAs="oneCell">
        <p:nvSpPr>
          <p:cNvPr id="31" name="Rounded Rectangle 30"/>
          <p:cNvSpPr/>
          <p:nvPr/>
        </p:nvSpPr>
        <p:spPr>
          <a:xfrm>
            <a:off x="8321040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1</a:t>
            </a:r>
          </a:p>
        </p:txBody>
      </p:sp>
      <p:sp xmlns:ns10="http://schemas.openxmlformats.org/drawingml/2006/spreadsheetDrawing" ns10:editAs="oneCell">
        <p:nvSpPr>
          <p:cNvPr id="34" name="Rounded Rectangle 33"/>
          <p:cNvSpPr/>
          <p:nvPr/>
        </p:nvSpPr>
        <p:spPr>
          <a:xfrm>
            <a:off x="9893808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93808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0</a:t>
            </a:r>
          </a:p>
        </p:txBody>
      </p:sp>
      <p:sp xmlns:ns11="http://schemas.openxmlformats.org/drawingml/2006/spreadsheetDrawing" ns11:editAs="oneCell">
        <p:nvSpPr>
          <p:cNvPr id="37" name="Rounded Rectangle 36"/>
          <p:cNvSpPr/>
          <p:nvPr/>
        </p:nvSpPr>
        <p:spPr>
          <a:xfrm>
            <a:off x="457200" y="411480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4663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BFF"/>
                </a:solidFill>
                <a:latin typeface="Calibri"/>
              </a:defRPr>
            </a:pPr>
            <a:r>
              <a:t>DETECTION LATENCY BREAKDOWN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Minimum: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0.54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Average: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1.96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Median: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59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1.15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Maximum: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19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5.83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Std Dev: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2.19 ms</a:t>
            </a:r>
          </a:p>
        </p:txBody>
      </p:sp>
      <p:sp xmlns:ns12="http://schemas.openxmlformats.org/drawingml/2006/spreadsheetDrawing" ns12:editAs="oneCell">
        <p:nvSpPr>
          <p:cNvPr id="49" name="Rounded Rectangle 48"/>
          <p:cNvSpPr/>
          <p:nvPr/>
        </p:nvSpPr>
        <p:spPr>
          <a:xfrm>
            <a:off x="5760720" y="4114800"/>
            <a:ext cx="566928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4206240"/>
            <a:ext cx="5303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DDoS IMPACT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2628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C8D0E0"/>
                </a:solidFill>
                <a:latin typeface="Calibri"/>
              </a:defRPr>
            </a:pPr>
            <a:r>
              <a:t>ARP rate increased 19.2x during attack (0.48 → 9.24 pps)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C8D0E0"/>
                </a:solidFill>
                <a:latin typeface="Calibri"/>
              </a:defRPr>
            </a:pPr>
            <a:r>
              <a:t>IP-MAC conflicts: 0 → 4 during active spoofing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C8D0E0"/>
                </a:solidFill>
                <a:latin typeface="Calibri"/>
              </a:defRPr>
            </a:pPr>
            <a:r>
              <a:t>Unique source MACs: 7 → 15 (forged MAC addresses)</a:t>
            </a:r>
          </a:p>
        </p:txBody>
      </p:sp>
      <p:sp xmlns:ns13="http://schemas.openxmlformats.org/drawingml/2006/spreadsheetDrawing" ns13:editAs="oneCell">
        <p:nvSpPr>
          <p:cNvPr id="52" name="Rounded Rectangle 51"/>
          <p:cNvSpPr/>
          <p:nvPr/>
        </p:nvSpPr>
        <p:spPr>
          <a:xfrm>
            <a:off x="457200" y="5486400"/>
            <a:ext cx="10972800" cy="640080"/>
          </a:xfrm>
          <a:prstGeom prst="roundRect">
            <a:avLst/>
          </a:prstGeom>
          <a:solidFill>
            <a:srgbClr val="1A1810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32120"/>
            <a:ext cx="10607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⚠  Evaluation Limitation: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760720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alibri"/>
              </a:defRPr>
            </a:pPr>
            <a:r>
              <a:t>Normal traffic test fixture used MAC addresses not present in the configured trusted baseline (trusted_baseline.json), producing false positives. This is an expected artifact of the strict baseline enforcement and synthetic test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228600" y="1051560"/>
            <a:ext cx="3749039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657600" cy="2743200"/>
          </a:xfrm>
          <a:prstGeom prst="rect">
            <a:avLst/>
          </a:prstGeom>
        </p:spPr>
      </p:pic>
      <p:sp xmlns:ns1="http://schemas.openxmlformats.org/drawingml/2006/spreadsheetDrawing" ns1:editAs="oneCell">
        <p:nvSpPr>
          <p:cNvPr id="6" name="Rounded Rectangle 5"/>
          <p:cNvSpPr/>
          <p:nvPr/>
        </p:nvSpPr>
        <p:spPr>
          <a:xfrm>
            <a:off x="4069080" y="1051560"/>
            <a:ext cx="3931920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events_by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3840480" cy="2743200"/>
          </a:xfrm>
          <a:prstGeom prst="rect">
            <a:avLst/>
          </a:prstGeom>
        </p:spPr>
      </p:pic>
      <p:sp xmlns:ns2="http://schemas.openxmlformats.org/drawingml/2006/spreadsheetDrawing" ns2:editAs="oneCell">
        <p:nvSpPr>
          <p:cNvPr id="8" name="Rounded Rectangle 7"/>
          <p:cNvSpPr/>
          <p:nvPr/>
        </p:nvSpPr>
        <p:spPr>
          <a:xfrm>
            <a:off x="8092440" y="1051560"/>
            <a:ext cx="3931920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detection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7280"/>
            <a:ext cx="3840480" cy="2743200"/>
          </a:xfrm>
          <a:prstGeom prst="rect">
            <a:avLst/>
          </a:prstGeom>
        </p:spPr>
      </p:pic>
      <p:sp xmlns:ns3="http://schemas.openxmlformats.org/drawingml/2006/spreadsheetDrawing" ns3:editAs="oneCell">
        <p:nvSpPr>
          <p:cNvPr id="10" name="Rounded Rectangle 9"/>
          <p:cNvSpPr/>
          <p:nvPr/>
        </p:nvSpPr>
        <p:spPr>
          <a:xfrm>
            <a:off x="228600" y="3977640"/>
            <a:ext cx="3749039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arp_rat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023360"/>
            <a:ext cx="3657600" cy="2743200"/>
          </a:xfrm>
          <a:prstGeom prst="rect">
            <a:avLst/>
          </a:prstGeom>
        </p:spPr>
      </p:pic>
      <p:sp xmlns:ns4="http://schemas.openxmlformats.org/drawingml/2006/spreadsheetDrawing" ns4:editAs="oneCell">
        <p:nvSpPr>
          <p:cNvPr id="12" name="Rounded Rectangle 11"/>
          <p:cNvSpPr/>
          <p:nvPr/>
        </p:nvSpPr>
        <p:spPr>
          <a:xfrm>
            <a:off x="4069080" y="3977640"/>
            <a:ext cx="3931920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mitigation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023360"/>
            <a:ext cx="384048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4206240"/>
            <a:ext cx="3840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All charts generated from actual evaluation data  ·  Synthetic controlled test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Flask + Jinja + SQLite  ·  Real-time web interface for network administrators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45720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06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Network status metrics,</a:t>
            </a:r>
            <a:br/>
            <a:r>
              <a:t>connected devices, system health,</a:t>
            </a:r>
            <a:br/>
            <a:r>
              <a:t>active alerts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overview.html</a:t>
            </a:r>
          </a:p>
        </p:txBody>
      </p:sp>
      <p:sp xmlns:ns1="http://schemas.openxmlformats.org/drawingml/2006/spreadsheetDrawing" ns1:editAs="oneCell">
        <p:nvSpPr>
          <p:cNvPr id="10" name="Rounded Rectangle 9"/>
          <p:cNvSpPr/>
          <p:nvPr/>
        </p:nvSpPr>
        <p:spPr>
          <a:xfrm>
            <a:off x="324612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06040" cy="32004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Real-time alert feed with</a:t>
            </a:r>
            <a:br/>
            <a:r>
              <a:t>severity classification,</a:t>
            </a:r>
            <a:br/>
            <a:r>
              <a:t>timestamps, and 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alerts.html</a:t>
            </a:r>
          </a:p>
        </p:txBody>
      </p:sp>
      <p:sp xmlns:ns2="http://schemas.openxmlformats.org/drawingml/2006/spreadsheetDrawing" ns2:editAs="oneCell">
        <p:nvSpPr>
          <p:cNvPr id="15" name="Rounded Rectangle 14"/>
          <p:cNvSpPr/>
          <p:nvPr/>
        </p:nvSpPr>
        <p:spPr>
          <a:xfrm>
            <a:off x="603504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06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Known device registry,</a:t>
            </a:r>
            <a:br/>
            <a:r>
              <a:t>IP-MAC mappings,</a:t>
            </a:r>
            <a:br/>
            <a:r>
              <a:t>device status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devices.html</a:t>
            </a:r>
          </a:p>
        </p:txBody>
      </p:sp>
      <p:sp xmlns:ns3="http://schemas.openxmlformats.org/drawingml/2006/spreadsheetDrawing" ns3:editAs="oneCell">
        <p:nvSpPr>
          <p:cNvPr id="20" name="Rounded Rectangle 19"/>
          <p:cNvSpPr/>
          <p:nvPr/>
        </p:nvSpPr>
        <p:spPr>
          <a:xfrm>
            <a:off x="882396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371600"/>
            <a:ext cx="2606040" cy="3200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INCIDENTS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Historical incident log</a:t>
            </a:r>
            <a:br/>
            <a:r>
              <a:t>with full event details</a:t>
            </a:r>
            <a:br/>
            <a:r>
              <a:t>and investigation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incidents.html</a:t>
            </a:r>
          </a:p>
        </p:txBody>
      </p:sp>
      <p:sp xmlns:ns4="http://schemas.openxmlformats.org/drawingml/2006/spreadsheetDrawing" ns4:editAs="oneCell">
        <p:nvSpPr>
          <p:cNvPr id="25" name="Rounded Rectangle 24"/>
          <p:cNvSpPr/>
          <p:nvPr/>
        </p:nvSpPr>
        <p:spPr>
          <a:xfrm>
            <a:off x="45720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383280"/>
            <a:ext cx="2606040" cy="32004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DDoS/DoS impact metrics,</a:t>
            </a:r>
            <a:br/>
            <a:r>
              <a:t>traffic rate analysis,</a:t>
            </a:r>
            <a:br/>
            <a:r>
              <a:t>disruption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impact.html</a:t>
            </a:r>
          </a:p>
        </p:txBody>
      </p:sp>
      <p:sp xmlns:ns5="http://schemas.openxmlformats.org/drawingml/2006/spreadsheetDrawing" ns5:editAs="oneCell">
        <p:nvSpPr>
          <p:cNvPr id="30" name="Rounded Rectangle 29"/>
          <p:cNvSpPr/>
          <p:nvPr/>
        </p:nvSpPr>
        <p:spPr>
          <a:xfrm>
            <a:off x="324612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383280"/>
            <a:ext cx="2606040" cy="32004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Response action history,</a:t>
            </a:r>
            <a:br/>
            <a:r>
              <a:t>isolation status,</a:t>
            </a:r>
            <a:br/>
            <a:r>
              <a:t>firewall rule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mitigation.html</a:t>
            </a:r>
          </a:p>
        </p:txBody>
      </p:sp>
      <p:sp xmlns:ns6="http://schemas.openxmlformats.org/drawingml/2006/spreadsheetDrawing" ns6:editAs="oneCell">
        <p:nvSpPr>
          <p:cNvPr id="35" name="Rounded Rectangle 34"/>
          <p:cNvSpPr/>
          <p:nvPr/>
        </p:nvSpPr>
        <p:spPr>
          <a:xfrm>
            <a:off x="603504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3383280"/>
            <a:ext cx="2606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Network restoration status,</a:t>
            </a:r>
            <a:br/>
            <a:r>
              <a:t>corrective ARP broadcasts,</a:t>
            </a:r>
            <a:br/>
            <a:r>
              <a:t>recovery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recovery.html</a:t>
            </a:r>
          </a:p>
        </p:txBody>
      </p:sp>
      <p:sp xmlns:ns7="http://schemas.openxmlformats.org/drawingml/2006/spreadsheetDrawing" ns7:editAs="oneCell">
        <p:nvSpPr>
          <p:cNvPr id="40" name="Rounded Rectangle 39"/>
          <p:cNvSpPr/>
          <p:nvPr/>
        </p:nvSpPr>
        <p:spPr>
          <a:xfrm>
            <a:off x="882396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23960" y="3383280"/>
            <a:ext cx="2606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ARP TRAFFIC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Live ARP packet monitoring,</a:t>
            </a:r>
            <a:br/>
            <a:r>
              <a:t>request/reply breakdown,</a:t>
            </a:r>
            <a:br/>
            <a:r>
              <a:t>traffic visualization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arp.html</a:t>
            </a:r>
          </a:p>
        </p:txBody>
      </p:sp>
      <p:sp xmlns:ns8="http://schemas.openxmlformats.org/drawingml/2006/spreadsheetDrawing" ns8:editAs="oneCell">
        <p:nvSpPr>
          <p:cNvPr id="45" name="Rounded Rectangle 44"/>
          <p:cNvSpPr/>
          <p:nvPr/>
        </p:nvSpPr>
        <p:spPr>
          <a:xfrm>
            <a:off x="457200" y="5394960"/>
            <a:ext cx="11247120" cy="7315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00D4FF"/>
                </a:solidFill>
                <a:latin typeface="Calibri"/>
              </a:defRPr>
            </a:pPr>
            <a:r>
              <a:t>8 RESTful API Blueprints  ·  8 Dashboard Pages  ·  8 SQLAlchemy Models  ·  Served at http://127.0.0.1:5000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INCIDENT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Proving full integration from ARP packet capture to dashboard visualization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2743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8660" y="1572768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ARP PACKET</a:t>
            </a:r>
            <a:br/>
            <a:r>
              <a:t>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Scapy sniffs</a:t>
            </a:r>
            <a:br/>
            <a:r>
              <a:t>packet on wire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network/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508760" y="2514600"/>
            <a:ext cx="137160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12" name="Rounded Rectangle 11"/>
          <p:cNvSpPr/>
          <p:nvPr/>
        </p:nvSpPr>
        <p:spPr>
          <a:xfrm>
            <a:off x="16459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80260" y="1572768"/>
            <a:ext cx="365760" cy="3657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02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7BFF"/>
                </a:solidFill>
                <a:latin typeface="Calibri"/>
              </a:defRPr>
            </a:pPr>
            <a:r>
              <a:t>RULES</a:t>
            </a:r>
            <a:br/>
            <a:r>
              <a:t>EVALUATED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7 detection rules</a:t>
            </a:r>
            <a:br/>
            <a:r>
              <a:t>checked in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detection/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80360" y="2514600"/>
            <a:ext cx="13716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9" name="Rounded Rectangle 18"/>
          <p:cNvSpPr/>
          <p:nvPr/>
        </p:nvSpPr>
        <p:spPr>
          <a:xfrm>
            <a:off x="30175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51859" y="1572768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1859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39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ALERT</a:t>
            </a:r>
            <a:br/>
            <a:r>
              <a:t>GENERATED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Severity + reason</a:t>
            </a:r>
            <a:br/>
            <a:r>
              <a:t>assigned to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detection_engine/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251960" y="2514600"/>
            <a:ext cx="137160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26" name="Rounded Rectangle 25"/>
          <p:cNvSpPr/>
          <p:nvPr/>
        </p:nvSpPr>
        <p:spPr>
          <a:xfrm>
            <a:off x="43891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23459" y="1572768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3459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ATTACKER</a:t>
            </a:r>
            <a:br/>
            <a:r>
              <a:t>IDENTIFIED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Source MAC/IP</a:t>
            </a:r>
            <a:br/>
            <a:r>
              <a:t>pinpointed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detection_engine/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623560" y="2514600"/>
            <a:ext cx="137160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33" name="Rounded Rectangle 32"/>
          <p:cNvSpPr/>
          <p:nvPr/>
        </p:nvSpPr>
        <p:spPr>
          <a:xfrm>
            <a:off x="57607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95059" y="157276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5059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IMPACT</a:t>
            </a:r>
            <a:br/>
            <a:r>
              <a:t>ANALYZED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DDoS/DoS metrics</a:t>
            </a:r>
            <a:br/>
            <a:r>
              <a:t>calculated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testing/evaluation/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995160" y="2514600"/>
            <a:ext cx="137160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40" name="Rounded Rectangle 39"/>
          <p:cNvSpPr/>
          <p:nvPr/>
        </p:nvSpPr>
        <p:spPr>
          <a:xfrm>
            <a:off x="71323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566660" y="157276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66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DEVICE</a:t>
            </a:r>
            <a:br/>
            <a:r>
              <a:t>ISOLATED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Firewall rule</a:t>
            </a:r>
            <a:br/>
            <a:r>
              <a:t>executed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prevention/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366760" y="2514600"/>
            <a:ext cx="137160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47" name="Rounded Rectangle 46"/>
          <p:cNvSpPr/>
          <p:nvPr/>
        </p:nvSpPr>
        <p:spPr>
          <a:xfrm>
            <a:off x="85039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38260" y="1572768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382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NETWORK</a:t>
            </a:r>
            <a:br/>
            <a:r>
              <a:t>RECOVERED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Corrective ARP</a:t>
            </a:r>
            <a:br/>
            <a:r>
              <a:t>broadcast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prevention/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738360" y="2514600"/>
            <a:ext cx="13716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54" name="Rounded Rectangle 53"/>
          <p:cNvSpPr/>
          <p:nvPr/>
        </p:nvSpPr>
        <p:spPr>
          <a:xfrm>
            <a:off x="98755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09860" y="1572768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098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LOGGED IN</a:t>
            </a:r>
            <a:br/>
            <a:r>
              <a:t>DASHBOARD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Persisted in DB</a:t>
            </a:r>
            <a:br/>
            <a:r>
              <a:t>&amp; visible in 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backend/</a:t>
            </a:r>
          </a:p>
        </p:txBody>
      </p:sp>
      <p:sp xmlns:ns8="http://schemas.openxmlformats.org/drawingml/2006/spreadsheetDrawing" ns8:editAs="oneCell">
        <p:nvSpPr>
          <p:cNvPr id="60" name="Rounded Rectangle 59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✓  FULLY INTEGRATED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Every module is connected and operational  ·  98 unit tests passing  ·  6 integration scenarios validated  ·  288 synthetic packets processed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GROUP 52  ·  TEAM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365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0312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79" y="146304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79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CHINTANIKA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D4FF"/>
                </a:solidFill>
                <a:latin typeface="Calibri"/>
              </a:defRPr>
            </a:pPr>
            <a:r>
              <a:t>Network</a:t>
            </a:r>
            <a:br/>
            <a:r>
              <a:t>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Scapy ARP packet capture,</a:t>
            </a:r>
            <a:br/>
            <a:r>
              <a:t>network parsing,</a:t>
            </a:r>
            <a:br/>
            <a:r>
              <a:t>packet extraction</a:t>
            </a:r>
          </a:p>
        </p:txBody>
      </p:sp>
      <p:sp xmlns:ns1="http://schemas.openxmlformats.org/drawingml/2006/spreadsheetDrawing" ns1:editAs="oneCell">
        <p:nvSpPr>
          <p:cNvPr id="12" name="Rounded Rectangle 11"/>
          <p:cNvSpPr/>
          <p:nvPr/>
        </p:nvSpPr>
        <p:spPr>
          <a:xfrm>
            <a:off x="2651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2103120" cy="6400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3279" y="146304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RISHIMA SHARMA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23BCY10231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7BFF"/>
                </a:solidFill>
                <a:latin typeface="Calibri"/>
              </a:defRPr>
            </a:pPr>
            <a:r>
              <a:t>ARP Spoofing</a:t>
            </a:r>
            <a:br/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7 rule-based detection rules,</a:t>
            </a:r>
            <a:br/>
            <a:r>
              <a:t>baseline validation,</a:t>
            </a:r>
            <a:br/>
            <a:r>
              <a:t>ARPSpoofDetector engine</a:t>
            </a:r>
          </a:p>
        </p:txBody>
      </p:sp>
      <p:sp xmlns:ns2="http://schemas.openxmlformats.org/drawingml/2006/spreadsheetDrawing" ns2:editAs="oneCell">
        <p:nvSpPr>
          <p:cNvPr id="20" name="Rounded Rectangle 19"/>
          <p:cNvSpPr/>
          <p:nvPr/>
        </p:nvSpPr>
        <p:spPr>
          <a:xfrm>
            <a:off x="4937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188720"/>
            <a:ext cx="210312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0" y="1463040"/>
            <a:ext cx="640080" cy="64008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ANJU KUMARI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23BCY10267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FB800"/>
                </a:solidFill>
                <a:latin typeface="Calibri"/>
              </a:defRPr>
            </a:pPr>
            <a:r>
              <a:t>Prevention &amp;</a:t>
            </a:r>
            <a:br/>
            <a:r>
              <a:t>Mitigation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Risk scoring, ISOLATE_DEVICE,</a:t>
            </a:r>
            <a:br/>
            <a:r>
              <a:t>firewall integration,</a:t>
            </a:r>
            <a:br/>
            <a:r>
              <a:t>incident response</a:t>
            </a:r>
          </a:p>
        </p:txBody>
      </p:sp>
      <p:sp xmlns:ns3="http://schemas.openxmlformats.org/drawingml/2006/spreadsheetDrawing" ns3:editAs="oneCell">
        <p:nvSpPr>
          <p:cNvPr id="28" name="Rounded Rectangle 27"/>
          <p:cNvSpPr/>
          <p:nvPr/>
        </p:nvSpPr>
        <p:spPr>
          <a:xfrm>
            <a:off x="7223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188720"/>
            <a:ext cx="2103120" cy="64008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80" y="1463040"/>
            <a:ext cx="640080" cy="64008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AKSHAY SINGH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23BCY10283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F3B3B"/>
                </a:solidFill>
                <a:latin typeface="Calibri"/>
              </a:defRPr>
            </a:pPr>
            <a:r>
              <a:t>Testing &amp;</a:t>
            </a:r>
            <a:br/>
            <a: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6 test scenarios, metrics,</a:t>
            </a:r>
            <a:br/>
            <a:r>
              <a:t>DDoS impact analysis,</a:t>
            </a:r>
            <a:br/>
            <a:r>
              <a:t>automated testing</a:t>
            </a:r>
          </a:p>
        </p:txBody>
      </p:sp>
      <p:sp xmlns:ns4="http://schemas.openxmlformats.org/drawingml/2006/spreadsheetDrawing" ns4:editAs="oneCell">
        <p:nvSpPr>
          <p:cNvPr id="36" name="Rounded Rectangle 35"/>
          <p:cNvSpPr/>
          <p:nvPr/>
        </p:nvSpPr>
        <p:spPr>
          <a:xfrm>
            <a:off x="9509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1188720"/>
            <a:ext cx="210312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41280" y="146304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OVEIYA 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23BCY10309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Backend &amp;</a:t>
            </a:r>
            <a:br/>
            <a:r>
              <a:t>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Flask API, SQLite DB,</a:t>
            </a:r>
            <a:br/>
            <a:r>
              <a:t>8 dashboard pages,</a:t>
            </a:r>
            <a:br/>
            <a:r>
              <a:t>Jinja templates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00D4FF"/>
                </a:solidFill>
                <a:latin typeface="Calibri"/>
              </a:defRPr>
            </a:pPr>
            <a:r>
              <a:t>Supervisor:  Dr. Sreevani Maddukuri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11887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ARPShield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920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27" name="Rounded Rectangle 26"/>
          <p:cNvSpPr/>
          <p:nvPr/>
        </p:nvSpPr>
        <p:spPr>
          <a:xfrm>
            <a:off x="1523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3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D4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910687" y="2423160"/>
            <a:ext cx="109728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30" name="Rounded Rectangle 29"/>
          <p:cNvSpPr/>
          <p:nvPr/>
        </p:nvSpPr>
        <p:spPr>
          <a:xfrm>
            <a:off x="3047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7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7B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34687" y="2423160"/>
            <a:ext cx="109728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33" name="Rounded Rectangle 32"/>
          <p:cNvSpPr/>
          <p:nvPr/>
        </p:nvSpPr>
        <p:spPr>
          <a:xfrm>
            <a:off x="4571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7BFF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958687" y="2423160"/>
            <a:ext cx="109728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36" name="Rounded Rectangle 35"/>
          <p:cNvSpPr/>
          <p:nvPr/>
        </p:nvSpPr>
        <p:spPr>
          <a:xfrm>
            <a:off x="6095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5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B800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482687" y="2423160"/>
            <a:ext cx="109728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39" name="Rounded Rectangle 38"/>
          <p:cNvSpPr/>
          <p:nvPr/>
        </p:nvSpPr>
        <p:spPr>
          <a:xfrm>
            <a:off x="7619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9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3B3B"/>
                </a:solidFill>
                <a:latin typeface="Calibri"/>
              </a:defRPr>
            </a:pPr>
            <a:r>
              <a:t>MITIGATE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006687" y="2423160"/>
            <a:ext cx="109728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42" name="Rounded Rectangle 41"/>
          <p:cNvSpPr/>
          <p:nvPr/>
        </p:nvSpPr>
        <p:spPr>
          <a:xfrm>
            <a:off x="9143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3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C8D0E0"/>
                </a:solidFill>
                <a:latin typeface="Calibri"/>
              </a:defRPr>
            </a:pPr>
            <a:r>
              <a:t>An integrated cybersecurity approach to</a:t>
            </a:r>
            <a:br/>
            <a:r>
              <a:t>ARP spoofing detection and network disruption analysis.</a:t>
            </a:r>
          </a:p>
        </p:txBody>
      </p:sp>
      <p:sp xmlns:ns6="http://schemas.openxmlformats.org/drawingml/2006/spreadsheetDrawing" ns6:editAs="oneCell">
        <p:nvSpPr>
          <p:cNvPr id="45" name="Rounded Rectangle 44"/>
          <p:cNvSpPr/>
          <p:nvPr/>
        </p:nvSpPr>
        <p:spPr>
          <a:xfrm>
            <a:off x="1523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3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Detection Rate</a:t>
            </a:r>
          </a:p>
        </p:txBody>
      </p:sp>
      <p:sp xmlns:ns7="http://schemas.openxmlformats.org/drawingml/2006/spreadsheetDrawing" ns7:editAs="oneCell">
        <p:nvSpPr>
          <p:cNvPr id="48" name="Rounded Rectangle 47"/>
          <p:cNvSpPr/>
          <p:nvPr/>
        </p:nvSpPr>
        <p:spPr>
          <a:xfrm>
            <a:off x="3809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09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90.91%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9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F1 Score</a:t>
            </a:r>
          </a:p>
        </p:txBody>
      </p:sp>
      <p:sp xmlns:ns8="http://schemas.openxmlformats.org/drawingml/2006/spreadsheetDrawing" ns8:editAs="oneCell">
        <p:nvSpPr>
          <p:cNvPr id="51" name="Rounded Rectangle 50"/>
          <p:cNvSpPr/>
          <p:nvPr/>
        </p:nvSpPr>
        <p:spPr>
          <a:xfrm>
            <a:off x="6095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5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1.96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5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Avg Latency</a:t>
            </a:r>
          </a:p>
        </p:txBody>
      </p:sp>
      <p:sp xmlns:ns9="http://schemas.openxmlformats.org/drawingml/2006/spreadsheetDrawing" ns9:editAs="oneCell">
        <p:nvSpPr>
          <p:cNvPr id="54" name="Rounded Rectangle 53"/>
          <p:cNvSpPr/>
          <p:nvPr/>
        </p:nvSpPr>
        <p:spPr>
          <a:xfrm>
            <a:off x="8381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1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1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Supervisor:  Dr. Sreevani Maddukuri  ·  VIT Bhopal University  ·  Group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